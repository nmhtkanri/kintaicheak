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83464"/>
            <a:ext cx="7242048" cy="2286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1">
                <a:solidFill>
                  <a:srgbClr val="6B7A88"/>
                </a:solidFill>
                <a:latin typeface="Meiryo UI"/>
              </a:rPr>
              <a:t>2026-08-20 改訂版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5952" y="283464"/>
            <a:ext cx="612648" cy="2286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050" b="1">
                <a:solidFill>
                  <a:srgbClr val="6B7A88"/>
                </a:solidFill>
                <a:latin typeface="Meiryo UI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03504"/>
            <a:ext cx="11128248" cy="10972"/>
          </a:xfrm>
          <a:prstGeom prst="rect">
            <a:avLst/>
          </a:prstGeom>
          <a:solidFill>
            <a:srgbClr val="D7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353312"/>
            <a:ext cx="7242048" cy="512064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1">
                <a:solidFill>
                  <a:srgbClr val="2980B9"/>
                </a:solidFill>
                <a:latin typeface="Meiryo UI"/>
              </a:rPr>
              <a:t>オペレーションハブ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83664"/>
            <a:ext cx="6583680" cy="8229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3750" b="1">
                <a:solidFill>
                  <a:srgbClr val="243746"/>
                </a:solidFill>
                <a:latin typeface="Meiryo UI"/>
              </a:rPr>
              <a:t>勤怠チェック 操作マニュアル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2889504"/>
            <a:ext cx="6035040" cy="54864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>
                <a:solidFill>
                  <a:srgbClr val="425466"/>
                </a:solidFill>
                <a:latin typeface="Meiryo UI"/>
              </a:rPr>
              <a:t>請求勤怠と jinjer の勤怠を突き合わせ、差異を判断して jinjer へ戻すまでの手順です。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1527048"/>
            <a:ext cx="4096512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50024" y="1764792"/>
            <a:ext cx="3712463" cy="54864"/>
          </a:xfrm>
          <a:prstGeom prst="rect">
            <a:avLst/>
          </a:prstGeom>
          <a:solidFill>
            <a:srgbClr val="D7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242048" y="2002536"/>
            <a:ext cx="2148840" cy="320040"/>
          </a:xfrm>
          <a:prstGeom prst="roundRect">
            <a:avLst>
              <a:gd name="adj" fmla="val 12000"/>
            </a:avLst>
          </a:prstGeom>
          <a:solidFill>
            <a:srgbClr val="E9F4FC"/>
          </a:solidFill>
          <a:ln w="12700">
            <a:solidFill>
              <a:srgbClr val="E9F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42048" y="2002536"/>
            <a:ext cx="2148840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2980B9"/>
                </a:solidFill>
                <a:latin typeface="Meiryo UI"/>
              </a:rPr>
              <a:t>勤怠チェックモード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414016"/>
            <a:ext cx="3566160" cy="32004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425466"/>
                </a:solidFill>
                <a:latin typeface="Meiryo UI"/>
              </a:rPr>
              <a:t>請求勤怠 × jinjer 勤怠の差異を洗い出す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42048" y="2980944"/>
            <a:ext cx="3063240" cy="320040"/>
          </a:xfrm>
          <a:prstGeom prst="roundRect">
            <a:avLst>
              <a:gd name="adj" fmla="val 12000"/>
            </a:avLst>
          </a:prstGeom>
          <a:solidFill>
            <a:srgbClr val="EBFAF2"/>
          </a:solidFill>
          <a:ln w="12700">
            <a:solidFill>
              <a:srgbClr val="EBF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42048" y="2980944"/>
            <a:ext cx="3063240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27AE60"/>
                </a:solidFill>
                <a:latin typeface="Meiryo UI"/>
              </a:rPr>
              <a:t>スケジュールアップロードモード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3392424"/>
            <a:ext cx="3566160" cy="54864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425466"/>
                </a:solidFill>
                <a:latin typeface="Meiryo UI"/>
              </a:rPr>
              <a:t>シフト表（画像・Excel）から jinjer へ予定を登録する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4709160"/>
            <a:ext cx="7315200" cy="6400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6B7A88"/>
                </a:solidFill>
                <a:latin typeface="Meiryo UI"/>
              </a:rPr>
              <a:t>※ ハブには他に 経費チェック / 経理 / 請求書 / 社労士CSV / 標準報酬 / 健康診断HPM の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6B7A88"/>
                </a:solidFill>
                <a:latin typeface="Meiryo UI"/>
              </a:rPr>
              <a:t>　 モードがあります。それぞれ専用のマニュアルを参照してください。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" y="6190488"/>
            <a:ext cx="8577072" cy="265176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6B7A88"/>
                </a:solidFill>
                <a:latin typeface="Meiryo UI"/>
              </a:rPr>
              <a:t>保存先: Z:\勤怠チェックシステム\kintai-checker\マニュアル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83464"/>
            <a:ext cx="7772400" cy="2286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1">
                <a:solidFill>
                  <a:srgbClr val="6B7A88"/>
                </a:solidFill>
                <a:latin typeface="Meiryo UI"/>
              </a:rPr>
              <a:t>オペレーションハブ 勤怠チェック操作マニュアル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5952" y="283464"/>
            <a:ext cx="612648" cy="2286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050" b="1">
                <a:solidFill>
                  <a:srgbClr val="6B7A88"/>
                </a:solidFill>
                <a:latin typeface="Meiryo UI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03504"/>
            <a:ext cx="11128248" cy="10972"/>
          </a:xfrm>
          <a:prstGeom prst="rect">
            <a:avLst/>
          </a:prstGeom>
          <a:solidFill>
            <a:srgbClr val="D7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841248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2980B9"/>
                </a:solidFill>
                <a:latin typeface="Meiryo UI"/>
              </a:rPr>
              <a:t>OVERALL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170432"/>
            <a:ext cx="10972800" cy="4572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200" b="1">
                <a:solidFill>
                  <a:srgbClr val="243746"/>
                </a:solidFill>
                <a:latin typeface="Meiryo UI"/>
              </a:rPr>
              <a:t>3つの手順で、差異の洗い出しから jinjer への反映まで終わります。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719072"/>
            <a:ext cx="10972800" cy="3657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425466"/>
                </a:solidFill>
                <a:latin typeface="Meiryo UI"/>
              </a:rPr>
              <a:t>ハブで一覧を作り、Excel で判断を入れ、ハブから jinjer へ戻します。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2286000"/>
            <a:ext cx="340156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58952" y="2514600"/>
            <a:ext cx="411480" cy="411480"/>
          </a:xfrm>
          <a:prstGeom prst="roundRect">
            <a:avLst>
              <a:gd name="adj" fmla="val 12000"/>
            </a:avLst>
          </a:prstGeom>
          <a:solidFill>
            <a:srgbClr val="2980B9"/>
          </a:solidFill>
          <a:ln w="12700">
            <a:solidFill>
              <a:srgbClr val="298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514600"/>
            <a:ext cx="411480" cy="41148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eiryo UI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560320"/>
            <a:ext cx="2468880" cy="3657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50" b="1">
                <a:solidFill>
                  <a:srgbClr val="243746"/>
                </a:solidFill>
                <a:latin typeface="Meiryo UI"/>
              </a:rPr>
              <a:t>差異一覧をまとめて作る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07592" y="2944368"/>
            <a:ext cx="2468880" cy="25603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1">
                <a:solidFill>
                  <a:srgbClr val="2980B9"/>
                </a:solidFill>
                <a:latin typeface="Meiryo UI"/>
              </a:rPr>
              <a:t>オペレーションハブ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1" y="3511296"/>
            <a:ext cx="64008" cy="64008"/>
          </a:xfrm>
          <a:prstGeom prst="rect">
            <a:avLst/>
          </a:prstGeom>
          <a:solidFill>
            <a:srgbClr val="29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3401568"/>
            <a:ext cx="2788920" cy="56692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425466"/>
                </a:solidFill>
                <a:latin typeface="Meiryo UI"/>
              </a:rPr>
              <a:t>請求勤怠フォルダと jinjer データを指定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1" y="4114800"/>
            <a:ext cx="64008" cy="64008"/>
          </a:xfrm>
          <a:prstGeom prst="rect">
            <a:avLst/>
          </a:prstGeom>
          <a:solidFill>
            <a:srgbClr val="29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005072"/>
            <a:ext cx="2788920" cy="56692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425466"/>
                </a:solidFill>
                <a:latin typeface="Meiryo UI"/>
              </a:rPr>
              <a:t>突合から差異一覧まで一度に実行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1" y="4718304"/>
            <a:ext cx="64008" cy="64008"/>
          </a:xfrm>
          <a:prstGeom prst="rect">
            <a:avLst/>
          </a:prstGeom>
          <a:solidFill>
            <a:srgbClr val="29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" y="4608576"/>
            <a:ext cx="2788920" cy="56692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425466"/>
                </a:solidFill>
                <a:latin typeface="Meiryo UI"/>
              </a:rPr>
              <a:t>差異一覧xlsx がダウンロードできる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032504" y="3703320"/>
            <a:ext cx="384048" cy="384048"/>
          </a:xfrm>
          <a:prstGeom prst="rightArrow">
            <a:avLst/>
          </a:prstGeom>
          <a:solidFill>
            <a:srgbClr val="D7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07408" y="2286000"/>
            <a:ext cx="340156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636008" y="2514600"/>
            <a:ext cx="411480" cy="411480"/>
          </a:xfrm>
          <a:prstGeom prst="roundRect">
            <a:avLst>
              <a:gd name="adj" fmla="val 12000"/>
            </a:avLst>
          </a:prstGeom>
          <a:solidFill>
            <a:srgbClr val="27AE60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36008" y="2514600"/>
            <a:ext cx="411480" cy="41148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eiryo UI"/>
              </a:rPr>
              <a:t>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57216" y="2560320"/>
            <a:ext cx="2468880" cy="3657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50" b="1">
                <a:solidFill>
                  <a:srgbClr val="243746"/>
                </a:solidFill>
                <a:latin typeface="Meiryo UI"/>
              </a:rPr>
              <a:t>人間判断を入れる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84648" y="2944368"/>
            <a:ext cx="2468880" cy="25603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1">
                <a:solidFill>
                  <a:srgbClr val="27AE60"/>
                </a:solidFill>
                <a:latin typeface="Meiryo UI"/>
              </a:rPr>
              <a:t>Excel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81728" y="3511296"/>
            <a:ext cx="64008" cy="6400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0" y="3401568"/>
            <a:ext cx="2788920" cy="56692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425466"/>
                </a:solidFill>
                <a:latin typeface="Meiryo UI"/>
              </a:rPr>
              <a:t>差異一覧xlsx を Excel で開く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81728" y="4114800"/>
            <a:ext cx="64008" cy="6400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0" y="4005072"/>
            <a:ext cx="2788920" cy="56692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425466"/>
                </a:solidFill>
                <a:latin typeface="Meiryo UI"/>
              </a:rPr>
              <a:t>「確認区分」が要確認の行から見る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81728" y="4718304"/>
            <a:ext cx="64008" cy="6400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46320" y="4608576"/>
            <a:ext cx="2788920" cy="56692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425466"/>
                </a:solidFill>
                <a:latin typeface="Meiryo UI"/>
              </a:rPr>
              <a:t>「人間判断」列を選んで保存する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7909560" y="3703320"/>
            <a:ext cx="384048" cy="384048"/>
          </a:xfrm>
          <a:prstGeom prst="rightArrow">
            <a:avLst/>
          </a:prstGeom>
          <a:solidFill>
            <a:srgbClr val="D7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84464" y="2286000"/>
            <a:ext cx="340156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513064" y="2514600"/>
            <a:ext cx="411480" cy="411480"/>
          </a:xfrm>
          <a:prstGeom prst="roundRect">
            <a:avLst>
              <a:gd name="adj" fmla="val 12000"/>
            </a:avLst>
          </a:prstGeom>
          <a:solidFill>
            <a:srgbClr val="2980B9"/>
          </a:solidFill>
          <a:ln w="12700">
            <a:solidFill>
              <a:srgbClr val="298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13064" y="2514600"/>
            <a:ext cx="411480" cy="41148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eiryo UI"/>
              </a:rPr>
              <a:t>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34272" y="2560320"/>
            <a:ext cx="2468880" cy="3657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50" b="1">
                <a:solidFill>
                  <a:srgbClr val="243746"/>
                </a:solidFill>
                <a:latin typeface="Meiryo UI"/>
              </a:rPr>
              <a:t>jinjer へ投入する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61704" y="2944368"/>
            <a:ext cx="2468880" cy="25603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1">
                <a:solidFill>
                  <a:srgbClr val="2980B9"/>
                </a:solidFill>
                <a:latin typeface="Meiryo UI"/>
              </a:rPr>
              <a:t>オペレーションハブ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58784" y="3511296"/>
            <a:ext cx="64008" cy="64008"/>
          </a:xfrm>
          <a:prstGeom prst="rect">
            <a:avLst/>
          </a:prstGeom>
          <a:solidFill>
            <a:srgbClr val="29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23376" y="3401568"/>
            <a:ext cx="2788920" cy="56692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425466"/>
                </a:solidFill>
                <a:latin typeface="Meiryo UI"/>
              </a:rPr>
              <a:t>判断入りの差異一覧xlsx を渡す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58784" y="4114800"/>
            <a:ext cx="64008" cy="64008"/>
          </a:xfrm>
          <a:prstGeom prst="rect">
            <a:avLst/>
          </a:prstGeom>
          <a:solidFill>
            <a:srgbClr val="29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23376" y="4005072"/>
            <a:ext cx="2788920" cy="56692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425466"/>
                </a:solidFill>
                <a:latin typeface="Meiryo UI"/>
              </a:rPr>
              <a:t>dry-run で内訳を確認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58784" y="4718304"/>
            <a:ext cx="64008" cy="64008"/>
          </a:xfrm>
          <a:prstGeom prst="rect">
            <a:avLst/>
          </a:prstGeom>
          <a:solidFill>
            <a:srgbClr val="29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23376" y="4608576"/>
            <a:ext cx="2788920" cy="56692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425466"/>
                </a:solidFill>
                <a:latin typeface="Meiryo UI"/>
              </a:rPr>
              <a:t>本実行 → API で jinjer へ反映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0352" y="5852160"/>
            <a:ext cx="11128248" cy="566928"/>
          </a:xfrm>
          <a:prstGeom prst="rect">
            <a:avLst/>
          </a:prstGeom>
          <a:solidFill>
            <a:srgbClr val="EBF6FD"/>
          </a:solidFill>
          <a:ln w="12700">
            <a:solidFill>
              <a:srgbClr val="2A8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5870448"/>
            <a:ext cx="10607040" cy="530352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425466"/>
                </a:solidFill>
                <a:latin typeface="Meiryo UI"/>
              </a:rPr>
              <a:t>ポイント: ①と③はハブの画面、②は Excel での作業です。②で保存を忘れると③に反映されません。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83464"/>
            <a:ext cx="7772400" cy="2286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1">
                <a:solidFill>
                  <a:srgbClr val="6B7A88"/>
                </a:solidFill>
                <a:latin typeface="Meiryo UI"/>
              </a:rPr>
              <a:t>オペレーションハブ 勤怠チェック操作マニュアル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5952" y="283464"/>
            <a:ext cx="612648" cy="2286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050" b="1">
                <a:solidFill>
                  <a:srgbClr val="6B7A88"/>
                </a:solidFill>
                <a:latin typeface="Meiryo UI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03504"/>
            <a:ext cx="11128248" cy="10972"/>
          </a:xfrm>
          <a:prstGeom prst="rect">
            <a:avLst/>
          </a:prstGeom>
          <a:solidFill>
            <a:srgbClr val="D7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841248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2980B9"/>
                </a:solidFill>
                <a:latin typeface="Meiryo UI"/>
              </a:rP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170432"/>
            <a:ext cx="10972800" cy="4572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200" b="1">
                <a:solidFill>
                  <a:srgbClr val="243746"/>
                </a:solidFill>
                <a:latin typeface="Meiryo UI"/>
              </a:rPr>
              <a:t>「差異一覧をまとめて作る」に4つ入れて実行します。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719072"/>
            <a:ext cx="10972800" cy="3657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425466"/>
                </a:solidFill>
                <a:latin typeface="Meiryo UI"/>
              </a:rPr>
              <a:t>ファイルを1枚ずつ上げる必要はありません。フォルダごと指定します。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2240280"/>
            <a:ext cx="6858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274320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1">
                <a:solidFill>
                  <a:srgbClr val="243746"/>
                </a:solidFill>
                <a:latin typeface="Meiryo UI"/>
              </a:rPr>
              <a:t>請求勤怠フォルダ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2350008"/>
            <a:ext cx="566928" cy="246888"/>
          </a:xfrm>
          <a:prstGeom prst="roundRect">
            <a:avLst>
              <a:gd name="adj" fmla="val 12000"/>
            </a:avLst>
          </a:prstGeom>
          <a:solidFill>
            <a:srgbClr val="FDEFED"/>
          </a:solidFill>
          <a:ln w="12700">
            <a:solidFill>
              <a:srgbClr val="F0C2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2350008"/>
            <a:ext cx="566928" cy="246888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000" b="1">
                <a:solidFill>
                  <a:srgbClr val="B3372A"/>
                </a:solidFill>
                <a:latin typeface="Meiryo UI"/>
              </a:rPr>
              <a:t>必須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06040"/>
            <a:ext cx="6309360" cy="38404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425466"/>
                </a:solidFill>
                <a:latin typeface="Meiryo UI"/>
              </a:rPr>
              <a:t>対象フォルダ: SAP_Fieldglass / e-staffing / Excel / PDF / ERCSTS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425466"/>
                </a:solidFill>
                <a:latin typeface="Meiryo UI"/>
              </a:rPr>
              <a:t>サブフォルダも含めて形式を自動判定します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" y="3118104"/>
            <a:ext cx="6858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209544"/>
            <a:ext cx="274320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1">
                <a:solidFill>
                  <a:srgbClr val="243746"/>
                </a:solidFill>
                <a:latin typeface="Meiryo UI"/>
              </a:rPr>
              <a:t>jinjer 汎用データCSV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1880" y="3227832"/>
            <a:ext cx="566928" cy="246888"/>
          </a:xfrm>
          <a:prstGeom prst="roundRect">
            <a:avLst>
              <a:gd name="adj" fmla="val 12000"/>
            </a:avLst>
          </a:prstGeom>
          <a:solidFill>
            <a:srgbClr val="FDEFED"/>
          </a:solidFill>
          <a:ln w="12700">
            <a:solidFill>
              <a:srgbClr val="F0C2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1880" y="3227832"/>
            <a:ext cx="566928" cy="246888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000" b="1">
                <a:solidFill>
                  <a:srgbClr val="B3372A"/>
                </a:solidFill>
                <a:latin typeface="Meiryo UI"/>
              </a:rPr>
              <a:t>必須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483864"/>
            <a:ext cx="6309360" cy="38404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425466"/>
                </a:solidFill>
                <a:latin typeface="Meiryo UI"/>
              </a:rPr>
              <a:t>jinjer から出力した汎用データ（まるめ適用後）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425466"/>
                </a:solidFill>
                <a:latin typeface="Meiryo UI"/>
              </a:rPr>
              <a:t>打刻の照合にも差異一覧の集計列にも使います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" y="3995928"/>
            <a:ext cx="6858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087368"/>
            <a:ext cx="274320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1">
                <a:solidFill>
                  <a:srgbClr val="243746"/>
                </a:solidFill>
                <a:latin typeface="Meiryo UI"/>
              </a:rPr>
              <a:t>jinjer 申請データCSV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11880" y="4105656"/>
            <a:ext cx="566928" cy="246888"/>
          </a:xfrm>
          <a:prstGeom prst="roundRect">
            <a:avLst>
              <a:gd name="adj" fmla="val 12000"/>
            </a:avLst>
          </a:prstGeom>
          <a:solidFill>
            <a:srgbClr val="FDEFED"/>
          </a:solidFill>
          <a:ln w="12700">
            <a:solidFill>
              <a:srgbClr val="F0C2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11880" y="4105656"/>
            <a:ext cx="566928" cy="246888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000" b="1">
                <a:solidFill>
                  <a:srgbClr val="B3372A"/>
                </a:solidFill>
                <a:latin typeface="Meiryo UI"/>
              </a:rPr>
              <a:t>必須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361688"/>
            <a:ext cx="6309360" cy="38404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425466"/>
                </a:solidFill>
                <a:latin typeface="Meiryo UI"/>
              </a:rPr>
              <a:t>打刻修正申請のCSV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425466"/>
                </a:solidFill>
                <a:latin typeface="Meiryo UI"/>
              </a:rPr>
              <a:t>「打刻修正時コメント」列に申請理由が載ります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0352" y="4873752"/>
            <a:ext cx="6858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965192"/>
            <a:ext cx="274320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1">
                <a:solidFill>
                  <a:srgbClr val="243746"/>
                </a:solidFill>
                <a:latin typeface="Meiryo UI"/>
              </a:rPr>
              <a:t>対象月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11880" y="4983480"/>
            <a:ext cx="566928" cy="246888"/>
          </a:xfrm>
          <a:prstGeom prst="roundRect">
            <a:avLst>
              <a:gd name="adj" fmla="val 12000"/>
            </a:avLst>
          </a:prstGeom>
          <a:solidFill>
            <a:srgbClr val="FDEFED"/>
          </a:solidFill>
          <a:ln w="12700">
            <a:solidFill>
              <a:srgbClr val="F0C2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11880" y="4983480"/>
            <a:ext cx="566928" cy="246888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000" b="1">
                <a:solidFill>
                  <a:srgbClr val="B3372A"/>
                </a:solidFill>
                <a:latin typeface="Meiryo UI"/>
              </a:rPr>
              <a:t>必須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239512"/>
            <a:ext cx="6309360" cy="38404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425466"/>
                </a:solidFill>
                <a:latin typeface="Meiryo UI"/>
              </a:rPr>
              <a:t>半角の YYYY-MM 形式（例: 2026-07）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425466"/>
                </a:solidFill>
                <a:latin typeface="Meiryo UI"/>
              </a:rPr>
              <a:t>全角で入力しても自動で半角になります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35240" y="2240280"/>
            <a:ext cx="4023360" cy="311810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863840" y="2450592"/>
            <a:ext cx="1371600" cy="310896"/>
          </a:xfrm>
          <a:prstGeom prst="roundRect">
            <a:avLst>
              <a:gd name="adj" fmla="val 12000"/>
            </a:avLst>
          </a:prstGeom>
          <a:solidFill>
            <a:srgbClr val="2980B9"/>
          </a:solidFill>
          <a:ln w="12700">
            <a:solidFill>
              <a:srgbClr val="298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0" y="2450592"/>
            <a:ext cx="1371600" cy="310896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eiryo UI"/>
              </a:rPr>
              <a:t>出力されるもの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2926080"/>
            <a:ext cx="3566160" cy="32004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243746"/>
                </a:solidFill>
                <a:latin typeface="Meiryo UI"/>
              </a:rPr>
              <a:t>差異一覧_2026-07_〇〇.xlsx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3310128"/>
            <a:ext cx="3566160" cy="12801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425466"/>
                </a:solidFill>
                <a:latin typeface="Meiryo UI"/>
              </a:rPr>
              <a:t>この1ファイルに、判断すべき差異と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425466"/>
                </a:solidFill>
                <a:latin typeface="Meiryo UI"/>
              </a:rPr>
              <a:t>人が手を打つべき未処理がまとまります。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425466"/>
                </a:solidFill>
                <a:latin typeface="Meiryo UI"/>
              </a:rPr>
              <a:t>画面には差異件数・未提出者・解析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425466"/>
                </a:solidFill>
                <a:latin typeface="Meiryo UI"/>
              </a:rPr>
              <a:t>できなかったファイルの件数が出ます。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63840" y="4773168"/>
            <a:ext cx="3566160" cy="384048"/>
          </a:xfrm>
          <a:prstGeom prst="roundRect">
            <a:avLst>
              <a:gd name="adj" fmla="val 12000"/>
            </a:avLst>
          </a:prstGeom>
          <a:solidFill>
            <a:srgbClr val="EBF6FD"/>
          </a:solidFill>
          <a:ln w="12700">
            <a:solidFill>
              <a:srgbClr val="2A8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63840" y="4773168"/>
            <a:ext cx="3566160" cy="384048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425466"/>
                </a:solidFill>
                <a:latin typeface="Meiryo UI"/>
              </a:rPr>
              <a:t>グループ単位で実行してください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0352" y="5852160"/>
            <a:ext cx="11128248" cy="566928"/>
          </a:xfrm>
          <a:prstGeom prst="rect">
            <a:avLst/>
          </a:prstGeom>
          <a:solidFill>
            <a:srgbClr val="EBF6FD"/>
          </a:solidFill>
          <a:ln w="12700">
            <a:solidFill>
              <a:srgbClr val="2A8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5870448"/>
            <a:ext cx="10607040" cy="530352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425466"/>
                </a:solidFill>
                <a:latin typeface="Meiryo UI"/>
              </a:rPr>
              <a:t>請求勤怠が PDF や画像のときは AI で読み取るため、件数によっては数分かかります。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83464"/>
            <a:ext cx="7772400" cy="2286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1">
                <a:solidFill>
                  <a:srgbClr val="6B7A88"/>
                </a:solidFill>
                <a:latin typeface="Meiryo UI"/>
              </a:rPr>
              <a:t>オペレーションハブ 勤怠チェック操作マニュアル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5952" y="283464"/>
            <a:ext cx="612648" cy="2286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050" b="1">
                <a:solidFill>
                  <a:srgbClr val="6B7A88"/>
                </a:solidFill>
                <a:latin typeface="Meiryo UI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03504"/>
            <a:ext cx="11128248" cy="10972"/>
          </a:xfrm>
          <a:prstGeom prst="rect">
            <a:avLst/>
          </a:prstGeom>
          <a:solidFill>
            <a:srgbClr val="D7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841248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2980B9"/>
                </a:solidFill>
                <a:latin typeface="Meiryo UI"/>
              </a:rPr>
              <a:t>WORKBOOK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170432"/>
            <a:ext cx="10972800" cy="4572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200" b="1">
                <a:solidFill>
                  <a:srgbClr val="243746"/>
                </a:solidFill>
                <a:latin typeface="Meiryo UI"/>
              </a:rPr>
              <a:t>差異一覧xlsx は、最初に「未処理・未マッチ」が開きます。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719072"/>
            <a:ext cx="10972800" cy="3657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425466"/>
                </a:solidFill>
                <a:latin typeface="Meiryo UI"/>
              </a:rPr>
              <a:t>人が手を打たないと落ちたままになるものを、先頭にまとめてあります。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2194560"/>
            <a:ext cx="53949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9808" y="2395728"/>
            <a:ext cx="1691640" cy="310896"/>
          </a:xfrm>
          <a:prstGeom prst="roundRect">
            <a:avLst>
              <a:gd name="adj" fmla="val 12000"/>
            </a:avLst>
          </a:prstGeom>
          <a:solidFill>
            <a:srgbClr val="E87B35"/>
          </a:solidFill>
          <a:ln w="12700">
            <a:solidFill>
              <a:srgbClr val="E87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395728"/>
            <a:ext cx="1691640" cy="310896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eiryo UI"/>
              </a:rPr>
              <a:t>未処理・未マッチ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98064"/>
            <a:ext cx="484632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6B7A88"/>
                </a:solidFill>
                <a:latin typeface="Meiryo UI"/>
              </a:rPr>
              <a:t>最初に開くシート。3つの項目が並びます。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154680"/>
            <a:ext cx="4892040" cy="658368"/>
          </a:xfrm>
          <a:prstGeom prst="rect">
            <a:avLst/>
          </a:prstGeom>
          <a:solidFill>
            <a:srgbClr val="F6F8FA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3227832"/>
            <a:ext cx="4572000" cy="25603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243746"/>
                </a:solidFill>
                <a:latin typeface="Meiryo UI"/>
              </a:rPr>
              <a:t>解析できなかった請求勤怠ファイル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3465576"/>
            <a:ext cx="4572000" cy="29260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425466"/>
                </a:solidFill>
                <a:latin typeface="Meiryo UI"/>
              </a:rPr>
              <a:t>手順1で個別に確認が必要なもの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886200"/>
            <a:ext cx="4892040" cy="658368"/>
          </a:xfrm>
          <a:prstGeom prst="rect">
            <a:avLst/>
          </a:prstGeom>
          <a:solidFill>
            <a:srgbClr val="F6F8FA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3959352"/>
            <a:ext cx="4572000" cy="25603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243746"/>
                </a:solidFill>
                <a:latin typeface="Meiryo UI"/>
              </a:rPr>
              <a:t>請求勤怠 未提出者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4197096"/>
            <a:ext cx="4572000" cy="29260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425466"/>
                </a:solidFill>
                <a:latin typeface="Meiryo UI"/>
              </a:rPr>
              <a:t>jinjer にはいるが請求勤怠が届いていない人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617720"/>
            <a:ext cx="4892040" cy="658368"/>
          </a:xfrm>
          <a:prstGeom prst="rect">
            <a:avLst/>
          </a:prstGeom>
          <a:solidFill>
            <a:srgbClr val="F6F8FA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4690872"/>
            <a:ext cx="4572000" cy="25603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243746"/>
                </a:solidFill>
                <a:latin typeface="Meiryo UI"/>
              </a:rPr>
              <a:t>jinjer勤怠未登録者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928616"/>
            <a:ext cx="4572000" cy="29260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425466"/>
                </a:solidFill>
                <a:latin typeface="Meiryo UI"/>
              </a:rPr>
              <a:t>請求勤怠に勤務があるのに jinjer で氏名が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425466"/>
                </a:solidFill>
                <a:latin typeface="Meiryo UI"/>
              </a:rPr>
              <a:t>解決できない人（給与未反映の恐れ）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2194560"/>
            <a:ext cx="53949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83096" y="2395728"/>
            <a:ext cx="1188720" cy="310896"/>
          </a:xfrm>
          <a:prstGeom prst="roundRect">
            <a:avLst>
              <a:gd name="adj" fmla="val 12000"/>
            </a:avLst>
          </a:prstGeom>
          <a:solidFill>
            <a:srgbClr val="2980B9"/>
          </a:solidFill>
          <a:ln w="12700">
            <a:solidFill>
              <a:srgbClr val="298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3096" y="2395728"/>
            <a:ext cx="1188720" cy="310896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eiryo UI"/>
              </a:rPr>
              <a:t>他のシート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2798064"/>
            <a:ext cx="484632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6B7A88"/>
                </a:solidFill>
                <a:latin typeface="Meiryo UI"/>
              </a:rPr>
              <a:t>左から順に並んでいます。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10528" y="3154680"/>
            <a:ext cx="4892040" cy="502920"/>
          </a:xfrm>
          <a:prstGeom prst="rect">
            <a:avLst/>
          </a:prstGeom>
          <a:solidFill>
            <a:srgbClr val="F6F8FA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10528" y="3154680"/>
            <a:ext cx="54864" cy="502920"/>
          </a:xfrm>
          <a:prstGeom prst="rect">
            <a:avLst/>
          </a:prstGeom>
          <a:solidFill>
            <a:srgbClr val="29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3200400"/>
            <a:ext cx="2377440" cy="237744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243746"/>
                </a:solidFill>
                <a:latin typeface="Meiryo UI"/>
              </a:rPr>
              <a:t>差異一覧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3410712"/>
            <a:ext cx="4572000" cy="219456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425466"/>
                </a:solidFill>
                <a:latin typeface="Meiryo UI"/>
              </a:rPr>
              <a:t>判断を入れるシート。ここが本番です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10528" y="3721608"/>
            <a:ext cx="4892040" cy="502920"/>
          </a:xfrm>
          <a:prstGeom prst="rect">
            <a:avLst/>
          </a:prstGeom>
          <a:solidFill>
            <a:srgbClr val="F6F8FA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10528" y="3721608"/>
            <a:ext cx="54864" cy="502920"/>
          </a:xfrm>
          <a:prstGeom prst="rect">
            <a:avLst/>
          </a:prstGeom>
          <a:solidFill>
            <a:srgbClr val="606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0840" y="3767328"/>
            <a:ext cx="2377440" cy="237744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243746"/>
                </a:solidFill>
                <a:latin typeface="Meiryo UI"/>
              </a:rPr>
              <a:t>スケジュール開始合わせ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3977640"/>
            <a:ext cx="4572000" cy="219456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425466"/>
                </a:solidFill>
                <a:latin typeface="Meiryo UI"/>
              </a:rPr>
              <a:t>確認不要。手順③が自動で反映します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10528" y="4288536"/>
            <a:ext cx="4892040" cy="502920"/>
          </a:xfrm>
          <a:prstGeom prst="rect">
            <a:avLst/>
          </a:prstGeom>
          <a:solidFill>
            <a:srgbClr val="F6F8FA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10528" y="4288536"/>
            <a:ext cx="54864" cy="502920"/>
          </a:xfrm>
          <a:prstGeom prst="rect">
            <a:avLst/>
          </a:prstGeom>
          <a:solidFill>
            <a:srgbClr val="606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20840" y="4334256"/>
            <a:ext cx="2377440" cy="237744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243746"/>
                </a:solidFill>
                <a:latin typeface="Meiryo UI"/>
              </a:rPr>
              <a:t>取込ログ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4544568"/>
            <a:ext cx="4572000" cy="219456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425466"/>
                </a:solidFill>
                <a:latin typeface="Meiryo UI"/>
              </a:rPr>
              <a:t>読み込み時の警告・エラーの記録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10528" y="4855464"/>
            <a:ext cx="4892040" cy="502920"/>
          </a:xfrm>
          <a:prstGeom prst="rect">
            <a:avLst/>
          </a:prstGeom>
          <a:solidFill>
            <a:srgbClr val="F6F8FA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10528" y="4855464"/>
            <a:ext cx="54864" cy="502920"/>
          </a:xfrm>
          <a:prstGeom prst="rect">
            <a:avLst/>
          </a:prstGeom>
          <a:solidFill>
            <a:srgbClr val="606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20840" y="4901184"/>
            <a:ext cx="2377440" cy="237744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243746"/>
                </a:solidFill>
                <a:latin typeface="Meiryo UI"/>
              </a:rPr>
              <a:t>サマリ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20840" y="5111496"/>
            <a:ext cx="4572000" cy="219456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425466"/>
                </a:solidFill>
                <a:latin typeface="Meiryo UI"/>
              </a:rPr>
              <a:t>件数の集計（一番うしろ）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0352" y="5852160"/>
            <a:ext cx="11128248" cy="566928"/>
          </a:xfrm>
          <a:prstGeom prst="rect">
            <a:avLst/>
          </a:prstGeom>
          <a:solidFill>
            <a:srgbClr val="EBF6FD"/>
          </a:solidFill>
          <a:ln w="12700">
            <a:solidFill>
              <a:srgbClr val="2A8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5870448"/>
            <a:ext cx="10607040" cy="530352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425466"/>
                </a:solidFill>
                <a:latin typeface="Meiryo UI"/>
              </a:rPr>
              <a:t>差異一覧シートは「確認区分」で並んでいます。★要確認 の行から見れば、判断が必要なものを取りこぼしません。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83464"/>
            <a:ext cx="7772400" cy="2286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1">
                <a:solidFill>
                  <a:srgbClr val="6B7A88"/>
                </a:solidFill>
                <a:latin typeface="Meiryo UI"/>
              </a:rPr>
              <a:t>オペレーションハブ 勤怠チェック操作マニュアル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5952" y="283464"/>
            <a:ext cx="612648" cy="2286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050" b="1">
                <a:solidFill>
                  <a:srgbClr val="6B7A88"/>
                </a:solidFill>
                <a:latin typeface="Meiryo UI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03504"/>
            <a:ext cx="11128248" cy="10972"/>
          </a:xfrm>
          <a:prstGeom prst="rect">
            <a:avLst/>
          </a:prstGeom>
          <a:solidFill>
            <a:srgbClr val="D7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841248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2980B9"/>
                </a:solidFill>
                <a:latin typeface="Meiryo UI"/>
              </a:rPr>
              <a:t>HUMAN JUDGMENT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170432"/>
            <a:ext cx="10972800" cy="4572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200" b="1">
                <a:solidFill>
                  <a:srgbClr val="243746"/>
                </a:solidFill>
                <a:latin typeface="Meiryo UI"/>
              </a:rPr>
              <a:t>「人間判断」列は、どちらの時刻を正とするかの指定です。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719072"/>
            <a:ext cx="10972800" cy="3657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425466"/>
                </a:solidFill>
                <a:latin typeface="Meiryo UI"/>
              </a:rPr>
              <a:t>元の請求勤怠ファイルは書き換わりません。③で作る jinjer 戻し用データに反映されます。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2286000"/>
            <a:ext cx="3611880" cy="2514600"/>
          </a:xfrm>
          <a:prstGeom prst="rect">
            <a:avLst/>
          </a:prstGeom>
          <a:solidFill>
            <a:srgbClr val="EBFAF2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58952" y="2514600"/>
            <a:ext cx="1234440" cy="347472"/>
          </a:xfrm>
          <a:prstGeom prst="roundRect">
            <a:avLst>
              <a:gd name="adj" fmla="val 12000"/>
            </a:avLst>
          </a:prstGeom>
          <a:solidFill>
            <a:srgbClr val="27AE60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514600"/>
            <a:ext cx="1234440" cy="347472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eiryo UI"/>
              </a:rPr>
              <a:t>請求勤怠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999232"/>
            <a:ext cx="3200400" cy="32004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1">
                <a:solidFill>
                  <a:srgbClr val="243746"/>
                </a:solidFill>
                <a:latin typeface="Meiryo UI"/>
              </a:rPr>
              <a:t>請求勤怠側の時刻を正とする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3401568"/>
            <a:ext cx="3200400" cy="11887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425466"/>
                </a:solidFill>
                <a:latin typeface="Meiryo UI"/>
              </a:rPr>
              <a:t>jinjer の打刻を請求勤怠に合わせます。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425466"/>
                </a:solidFill>
                <a:latin typeface="Meiryo UI"/>
              </a:rPr>
              <a:t>例: 請求勤怠 9:00 / jinjer 9:15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425466"/>
                </a:solidFill>
                <a:latin typeface="Meiryo UI"/>
              </a:rPr>
              <a:t>　→ jinjer の出勤1を 9:00 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06824" y="2286000"/>
            <a:ext cx="3611880" cy="2514600"/>
          </a:xfrm>
          <a:prstGeom prst="rect">
            <a:avLst/>
          </a:prstGeom>
          <a:solidFill>
            <a:srgbClr val="FDEFED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35424" y="2514600"/>
            <a:ext cx="1234440" cy="347472"/>
          </a:xfrm>
          <a:prstGeom prst="roundRect">
            <a:avLst>
              <a:gd name="adj" fmla="val 12000"/>
            </a:avLst>
          </a:prstGeom>
          <a:solidFill>
            <a:srgbClr val="C0392B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35424" y="2514600"/>
            <a:ext cx="1234440" cy="347472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eiryo UI"/>
              </a:rPr>
              <a:t>jinjer勤怠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2999232"/>
            <a:ext cx="3200400" cy="32004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1">
                <a:solidFill>
                  <a:srgbClr val="243746"/>
                </a:solidFill>
                <a:latin typeface="Meiryo UI"/>
              </a:rPr>
              <a:t>jinjer 側をそのままにする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3401568"/>
            <a:ext cx="3200400" cy="11887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425466"/>
                </a:solidFill>
                <a:latin typeface="Meiryo UI"/>
              </a:rPr>
              <a:t>請求勤怠の時刻は採用しません。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425466"/>
                </a:solidFill>
                <a:latin typeface="Meiryo UI"/>
              </a:rPr>
              <a:t>jinjer は変更されません。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83296" y="2286000"/>
            <a:ext cx="3611880" cy="2514600"/>
          </a:xfrm>
          <a:prstGeom prst="rect">
            <a:avLst/>
          </a:prstGeom>
          <a:solidFill>
            <a:srgbClr val="F6F8FA"/>
          </a:solidFill>
          <a:ln w="12700">
            <a:solidFill>
              <a:srgbClr val="606C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11896" y="2514600"/>
            <a:ext cx="1234440" cy="347472"/>
          </a:xfrm>
          <a:prstGeom prst="roundRect">
            <a:avLst>
              <a:gd name="adj" fmla="val 12000"/>
            </a:avLst>
          </a:prstGeom>
          <a:solidFill>
            <a:srgbClr val="606C78"/>
          </a:solidFill>
          <a:ln w="12700">
            <a:solidFill>
              <a:srgbClr val="606C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11896" y="2514600"/>
            <a:ext cx="1234440" cy="347472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eiryo UI"/>
              </a:rPr>
              <a:t>保留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1896" y="2999232"/>
            <a:ext cx="3200400" cy="32004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1">
                <a:solidFill>
                  <a:srgbClr val="243746"/>
                </a:solidFill>
                <a:latin typeface="Meiryo UI"/>
              </a:rPr>
              <a:t>今回は何もしない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1896" y="3401568"/>
            <a:ext cx="3200400" cy="11887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425466"/>
                </a:solidFill>
                <a:latin typeface="Meiryo UI"/>
              </a:rPr>
              <a:t>確認待ちの目印です。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425466"/>
                </a:solidFill>
                <a:latin typeface="Meiryo UI"/>
              </a:rPr>
              <a:t>この日は投入対象から丸ごと外れます。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0352" y="5029200"/>
            <a:ext cx="11128248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138928"/>
            <a:ext cx="10607040" cy="54864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425466"/>
                </a:solidFill>
                <a:latin typeface="Meiryo UI"/>
              </a:rPr>
              <a:t>セルをクリックするとプルダウンで選べます。「確認区分」が自動OK・自動採用の行には、あらかじめ判断が入っています。空欄のままの行は投入されません。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" y="5989320"/>
            <a:ext cx="11128248" cy="566928"/>
          </a:xfrm>
          <a:prstGeom prst="rect">
            <a:avLst/>
          </a:prstGeom>
          <a:solidFill>
            <a:srgbClr val="EBF6FD"/>
          </a:solidFill>
          <a:ln w="12700">
            <a:solidFill>
              <a:srgbClr val="2A8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6007607"/>
            <a:ext cx="10607040" cy="530352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425466"/>
                </a:solidFill>
                <a:latin typeface="Meiryo UI"/>
              </a:rPr>
              <a:t>出勤・退勤の差異が自動で反映されます。休憩は次のページの手入力欄を使ってください。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83464"/>
            <a:ext cx="7772400" cy="2286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1">
                <a:solidFill>
                  <a:srgbClr val="6B7A88"/>
                </a:solidFill>
                <a:latin typeface="Meiryo UI"/>
              </a:rPr>
              <a:t>オペレーションハブ 勤怠チェック操作マニュアル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5952" y="283464"/>
            <a:ext cx="612648" cy="2286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050" b="1">
                <a:solidFill>
                  <a:srgbClr val="6B7A88"/>
                </a:solidFill>
                <a:latin typeface="Meiryo UI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03504"/>
            <a:ext cx="11128248" cy="10972"/>
          </a:xfrm>
          <a:prstGeom prst="rect">
            <a:avLst/>
          </a:prstGeom>
          <a:solidFill>
            <a:srgbClr val="D7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841248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2980B9"/>
                </a:solidFill>
                <a:latin typeface="Meiryo UI"/>
              </a:rPr>
              <a:t>BREAK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170432"/>
            <a:ext cx="10972800" cy="4572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200" b="1">
                <a:solidFill>
                  <a:srgbClr val="243746"/>
                </a:solidFill>
                <a:latin typeface="Meiryo UI"/>
              </a:rPr>
              <a:t>休憩を直すときは、開始と終了だけ入れます。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719072"/>
            <a:ext cx="10972800" cy="3657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425466"/>
                </a:solidFill>
                <a:latin typeface="Meiryo UI"/>
              </a:rPr>
              <a:t>「手入力休憩時間」は自動で計算されるので、入力する必要はありません。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2240280"/>
            <a:ext cx="68580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630936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6B7A88"/>
                </a:solidFill>
                <a:latin typeface="Meiryo UI"/>
              </a:rPr>
              <a:t>差異一覧シートの右のほう（T列・U列・V列）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61488"/>
            <a:ext cx="6309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71216"/>
            <a:ext cx="50292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2980B9"/>
                </a:solidFill>
                <a:latin typeface="Meiryo UI"/>
              </a:rPr>
              <a:t>T列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871216"/>
            <a:ext cx="160020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243746"/>
                </a:solidFill>
                <a:latin typeface="Meiryo UI"/>
              </a:rPr>
              <a:t>手入力休憩1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2880360"/>
            <a:ext cx="274320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425466"/>
                </a:solidFill>
                <a:latin typeface="Meiryo UI"/>
              </a:rPr>
              <a:t>休憩に入った時刻を入れる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2862072"/>
            <a:ext cx="960120" cy="301752"/>
          </a:xfrm>
          <a:prstGeom prst="roundRect">
            <a:avLst>
              <a:gd name="adj" fmla="val 12000"/>
            </a:avLst>
          </a:prstGeom>
          <a:solidFill>
            <a:srgbClr val="E9F4FC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9320" y="2862072"/>
            <a:ext cx="960120" cy="301752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243746"/>
                </a:solidFill>
                <a:latin typeface="Meiryo UI"/>
              </a:rPr>
              <a:t>12:00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28416"/>
            <a:ext cx="6309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438144"/>
            <a:ext cx="50292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2980B9"/>
                </a:solidFill>
                <a:latin typeface="Meiryo UI"/>
              </a:rPr>
              <a:t>U列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438144"/>
            <a:ext cx="160020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243746"/>
                </a:solidFill>
                <a:latin typeface="Meiryo UI"/>
              </a:rPr>
              <a:t>手入力復帰1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80" y="3447288"/>
            <a:ext cx="274320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425466"/>
                </a:solidFill>
                <a:latin typeface="Meiryo UI"/>
              </a:rPr>
              <a:t>休憩から戻った時刻を入れる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89320" y="3429000"/>
            <a:ext cx="960120" cy="301752"/>
          </a:xfrm>
          <a:prstGeom prst="roundRect">
            <a:avLst>
              <a:gd name="adj" fmla="val 12000"/>
            </a:avLst>
          </a:prstGeom>
          <a:solidFill>
            <a:srgbClr val="E9F4FC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9320" y="3429000"/>
            <a:ext cx="960120" cy="301752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243746"/>
                </a:solidFill>
                <a:latin typeface="Meiryo UI"/>
              </a:rPr>
              <a:t>13:30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3895344"/>
            <a:ext cx="6309360" cy="502920"/>
          </a:xfrm>
          <a:prstGeom prst="rect">
            <a:avLst/>
          </a:prstGeom>
          <a:solidFill>
            <a:srgbClr val="F6F8FA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05072"/>
            <a:ext cx="50292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606C78"/>
                </a:solidFill>
                <a:latin typeface="Meiryo UI"/>
              </a:rPr>
              <a:t>V列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005072"/>
            <a:ext cx="160020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243746"/>
                </a:solidFill>
                <a:latin typeface="Meiryo UI"/>
              </a:rPr>
              <a:t>手入力休憩時間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4680" y="4014215"/>
            <a:ext cx="274320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425466"/>
                </a:solidFill>
                <a:latin typeface="Meiryo UI"/>
              </a:rPr>
              <a:t>自動で計算されます（入力不可）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89320" y="3995928"/>
            <a:ext cx="960120" cy="3017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89320" y="3995928"/>
            <a:ext cx="960120" cy="301752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243746"/>
                </a:solidFill>
                <a:latin typeface="Meiryo UI"/>
              </a:rPr>
              <a:t>1:30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35240" y="2240280"/>
            <a:ext cx="402336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863840" y="2423160"/>
            <a:ext cx="1600200" cy="310896"/>
          </a:xfrm>
          <a:prstGeom prst="roundRect">
            <a:avLst>
              <a:gd name="adj" fmla="val 12000"/>
            </a:avLst>
          </a:prstGeom>
          <a:solidFill>
            <a:srgbClr val="27AE60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0" y="2423160"/>
            <a:ext cx="1600200" cy="310896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eiryo UI"/>
              </a:rPr>
              <a:t>こう入れれば OK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2852928"/>
            <a:ext cx="3566160" cy="146304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425466"/>
                </a:solidFill>
                <a:latin typeface="Meiryo UI"/>
              </a:rPr>
              <a:t>休憩1に 12:00、復帰1に 13:30 と入れると、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425466"/>
                </a:solidFill>
                <a:latin typeface="Meiryo UI"/>
              </a:rPr>
              <a:t>休憩時間の欄に 1:30 と出ます。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425466"/>
                </a:solidFill>
                <a:latin typeface="Meiryo UI"/>
              </a:rPr>
              <a:t>日をまたぐ休憩（23:00 → 0:30）も正しく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425466"/>
                </a:solidFill>
                <a:latin typeface="Meiryo UI"/>
              </a:rPr>
              <a:t>1:30 になります。片方だけの入力なら、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425466"/>
                </a:solidFill>
                <a:latin typeface="Meiryo UI"/>
              </a:rPr>
              <a:t>空欄のままです。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0352" y="4709160"/>
            <a:ext cx="11128248" cy="1143000"/>
          </a:xfrm>
          <a:prstGeom prst="rect">
            <a:avLst/>
          </a:prstGeom>
          <a:solidFill>
            <a:srgbClr val="FFF8E6"/>
          </a:solidFill>
          <a:ln w="12700">
            <a:solidFill>
              <a:srgbClr val="F0C3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4809744"/>
            <a:ext cx="365760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B87A00"/>
                </a:solidFill>
                <a:latin typeface="Meiryo UI"/>
              </a:rPr>
              <a:t>この改訂で変わったこと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084064"/>
            <a:ext cx="10607040" cy="71323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050" b="0">
                <a:solidFill>
                  <a:srgbClr val="425466"/>
                </a:solidFill>
                <a:latin typeface="Meiryo UI"/>
              </a:rPr>
              <a:t>・「手入力休憩時間」は自動計算になり、直接は書き換えられません（シート保護）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050" b="0">
                <a:solidFill>
                  <a:srgbClr val="425466"/>
                </a:solidFill>
                <a:latin typeface="Meiryo UI"/>
              </a:rPr>
              <a:t>・その代わり、フィルタの矢印からの並べ替え（昇順・降順）が使えません。絞り込みは今までどおり使えます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050" b="0">
                <a:solidFill>
                  <a:srgbClr val="425466"/>
                </a:solidFill>
                <a:latin typeface="Meiryo UI"/>
              </a:rPr>
              <a:t>・並べ替えたいときは、Excel の［校閲］タブ →［シート保護の解除］（パスワードなし）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0352" y="5989320"/>
            <a:ext cx="11128248" cy="566928"/>
          </a:xfrm>
          <a:prstGeom prst="rect">
            <a:avLst/>
          </a:prstGeom>
          <a:solidFill>
            <a:srgbClr val="EBF6FD"/>
          </a:solidFill>
          <a:ln w="12700">
            <a:solidFill>
              <a:srgbClr val="2A8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6007607"/>
            <a:ext cx="10607040" cy="530352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425466"/>
                </a:solidFill>
                <a:latin typeface="Meiryo UI"/>
              </a:rPr>
              <a:t>休憩の直しは、差異の種類や人間判断にかかわらず「入力があれば反映」します（保留の行は除く）。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83464"/>
            <a:ext cx="7772400" cy="2286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1">
                <a:solidFill>
                  <a:srgbClr val="6B7A88"/>
                </a:solidFill>
                <a:latin typeface="Meiryo UI"/>
              </a:rPr>
              <a:t>オペレーションハブ 勤怠チェック操作マニュアル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5952" y="283464"/>
            <a:ext cx="612648" cy="2286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050" b="1">
                <a:solidFill>
                  <a:srgbClr val="6B7A88"/>
                </a:solidFill>
                <a:latin typeface="Meiryo UI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03504"/>
            <a:ext cx="11128248" cy="10972"/>
          </a:xfrm>
          <a:prstGeom prst="rect">
            <a:avLst/>
          </a:prstGeom>
          <a:solidFill>
            <a:srgbClr val="D7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841248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2980B9"/>
                </a:solidFill>
                <a:latin typeface="Meiryo UI"/>
              </a:rPr>
              <a:t>STEP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170432"/>
            <a:ext cx="10972800" cy="4572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200" b="1">
                <a:solidFill>
                  <a:srgbClr val="243746"/>
                </a:solidFill>
                <a:latin typeface="Meiryo UI"/>
              </a:rPr>
              <a:t>判断を入れた差異一覧を渡して、jinjer へ反映します。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719072"/>
            <a:ext cx="10972800" cy="3657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425466"/>
                </a:solidFill>
                <a:latin typeface="Meiryo UI"/>
              </a:rPr>
              <a:t>先に dry-run で内訳を確かめてから、本実行してください。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2240280"/>
            <a:ext cx="7863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359152"/>
            <a:ext cx="329184" cy="329184"/>
          </a:xfrm>
          <a:prstGeom prst="roundRect">
            <a:avLst>
              <a:gd name="adj" fmla="val 12000"/>
            </a:avLst>
          </a:prstGeom>
          <a:solidFill>
            <a:srgbClr val="2980B9"/>
          </a:solidFill>
          <a:ln w="12700">
            <a:solidFill>
              <a:srgbClr val="298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359152"/>
            <a:ext cx="329184" cy="32918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eiryo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331720"/>
            <a:ext cx="329184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1">
                <a:solidFill>
                  <a:srgbClr val="243746"/>
                </a:solidFill>
                <a:latin typeface="Meiryo UI"/>
              </a:rPr>
              <a:t>判断入りの差異一覧xlsx を選ぶ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331720"/>
            <a:ext cx="3749039" cy="42976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425466"/>
                </a:solidFill>
                <a:latin typeface="Meiryo UI"/>
              </a:rPr>
              <a:t>Excel で保存したものを指定します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" y="2898648"/>
            <a:ext cx="7863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3017520"/>
            <a:ext cx="329184" cy="329184"/>
          </a:xfrm>
          <a:prstGeom prst="roundRect">
            <a:avLst>
              <a:gd name="adj" fmla="val 12000"/>
            </a:avLst>
          </a:prstGeom>
          <a:solidFill>
            <a:srgbClr val="2980B9"/>
          </a:solidFill>
          <a:ln w="12700">
            <a:solidFill>
              <a:srgbClr val="298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017520"/>
            <a:ext cx="329184" cy="32918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eiryo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990088"/>
            <a:ext cx="329184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1">
                <a:solidFill>
                  <a:srgbClr val="243746"/>
                </a:solidFill>
                <a:latin typeface="Meiryo UI"/>
              </a:rPr>
              <a:t>jinjer 汎用データCSV を指定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990088"/>
            <a:ext cx="3749039" cy="42976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425466"/>
                </a:solidFill>
                <a:latin typeface="Meiryo UI"/>
              </a:rPr>
              <a:t>①で使ったものと同じファイルです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" y="3557015"/>
            <a:ext cx="7863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" y="3675887"/>
            <a:ext cx="329184" cy="329184"/>
          </a:xfrm>
          <a:prstGeom prst="roundRect">
            <a:avLst>
              <a:gd name="adj" fmla="val 12000"/>
            </a:avLst>
          </a:prstGeom>
          <a:solidFill>
            <a:srgbClr val="27AE60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675887"/>
            <a:ext cx="329184" cy="32918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eiryo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648456"/>
            <a:ext cx="329184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1">
                <a:solidFill>
                  <a:srgbClr val="243746"/>
                </a:solidFill>
                <a:latin typeface="Meiryo UI"/>
              </a:rPr>
              <a:t>dry-run（内訳の確認だけ）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648456"/>
            <a:ext cx="3749039" cy="57607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425466"/>
                </a:solidFill>
                <a:latin typeface="Meiryo UI"/>
              </a:rPr>
              <a:t>何件がどう変わるかだけ表示します。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425466"/>
                </a:solidFill>
                <a:latin typeface="Meiryo UI"/>
              </a:rPr>
              <a:t>jinjer には何も反映されません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0352" y="4361688"/>
            <a:ext cx="7863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1520" y="4480559"/>
            <a:ext cx="329184" cy="329184"/>
          </a:xfrm>
          <a:prstGeom prst="roundRect">
            <a:avLst>
              <a:gd name="adj" fmla="val 12000"/>
            </a:avLst>
          </a:prstGeom>
          <a:solidFill>
            <a:srgbClr val="2980B9"/>
          </a:solidFill>
          <a:ln w="12700">
            <a:solidFill>
              <a:srgbClr val="298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480559"/>
            <a:ext cx="329184" cy="32918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eiryo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453127"/>
            <a:ext cx="329184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1">
                <a:solidFill>
                  <a:srgbClr val="243746"/>
                </a:solidFill>
                <a:latin typeface="Meiryo UI"/>
              </a:rPr>
              <a:t>本実行（CSV出力）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4453127"/>
            <a:ext cx="3749039" cy="42976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425466"/>
                </a:solidFill>
                <a:latin typeface="Meiryo UI"/>
              </a:rPr>
              <a:t>jinjer へ戻すCSVができます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0352" y="5020055"/>
            <a:ext cx="7863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" y="5138927"/>
            <a:ext cx="329184" cy="329184"/>
          </a:xfrm>
          <a:prstGeom prst="roundRect">
            <a:avLst>
              <a:gd name="adj" fmla="val 12000"/>
            </a:avLst>
          </a:prstGeom>
          <a:solidFill>
            <a:srgbClr val="C0392B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138927"/>
            <a:ext cx="329184" cy="32918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eiryo U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111495"/>
            <a:ext cx="329184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1">
                <a:solidFill>
                  <a:srgbClr val="243746"/>
                </a:solidFill>
                <a:latin typeface="Meiryo UI"/>
              </a:rPr>
              <a:t>API で jinjer へ投入する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80" y="5111495"/>
            <a:ext cx="3749039" cy="57607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425466"/>
                </a:solidFill>
                <a:latin typeface="Meiryo UI"/>
              </a:rPr>
              <a:t>投入し、反映されたかを1行ずつ自動検証します。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425466"/>
                </a:solidFill>
                <a:latin typeface="Meiryo UI"/>
              </a:rPr>
              <a:t>jinjer 画面での手動アップロードは不要です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41080" y="2240280"/>
            <a:ext cx="30175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851392" y="2450592"/>
            <a:ext cx="1691640" cy="310896"/>
          </a:xfrm>
          <a:prstGeom prst="roundRect">
            <a:avLst>
              <a:gd name="adj" fmla="val 12000"/>
            </a:avLst>
          </a:prstGeom>
          <a:solidFill>
            <a:srgbClr val="606C78"/>
          </a:solidFill>
          <a:ln w="12700">
            <a:solidFill>
              <a:srgbClr val="606C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51392" y="2450592"/>
            <a:ext cx="1691640" cy="310896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eiryo UI"/>
              </a:rPr>
              <a:t>反映されるもの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51392" y="2926080"/>
            <a:ext cx="2651760" cy="21945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>
                <a:solidFill>
                  <a:srgbClr val="425466"/>
                </a:solidFill>
                <a:latin typeface="Meiryo UI"/>
              </a:rPr>
              <a:t>・出勤1 / 退勤1 の打刻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>
                <a:solidFill>
                  <a:srgbClr val="425466"/>
                </a:solidFill>
                <a:latin typeface="Meiryo UI"/>
              </a:rPr>
              <a:t>・休憩1 / 復帰1 / 休憩時間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>
                <a:solidFill>
                  <a:srgbClr val="425466"/>
                </a:solidFill>
                <a:latin typeface="Meiryo UI"/>
              </a:rPr>
              <a:t>　（手入力した場合）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>
                <a:solidFill>
                  <a:srgbClr val="425466"/>
                </a:solidFill>
                <a:latin typeface="Meiryo UI"/>
              </a:rPr>
              <a:t>・出勤予定時刻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>
                <a:solidFill>
                  <a:srgbClr val="425466"/>
                </a:solidFill>
                <a:latin typeface="Meiryo UI"/>
              </a:rPr>
              <a:t>　（スケジュール開始合わせ）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>
                <a:solidFill>
                  <a:srgbClr val="425466"/>
                </a:solidFill>
                <a:latin typeface="Meiryo UI"/>
              </a:rPr>
              <a:t>「保留」を選んだ日は、行ごと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>
                <a:solidFill>
                  <a:srgbClr val="425466"/>
                </a:solidFill>
                <a:latin typeface="Meiryo UI"/>
              </a:rPr>
              <a:t>対象から外れます。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0352" y="5852160"/>
            <a:ext cx="11128248" cy="566928"/>
          </a:xfrm>
          <a:prstGeom prst="rect">
            <a:avLst/>
          </a:prstGeom>
          <a:solidFill>
            <a:srgbClr val="EBF6FD"/>
          </a:solidFill>
          <a:ln w="12700">
            <a:solidFill>
              <a:srgbClr val="2A8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5870448"/>
            <a:ext cx="10607040" cy="530352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425466"/>
                </a:solidFill>
                <a:latin typeface="Meiryo UI"/>
              </a:rPr>
              <a:t>CSV は控え・監査用にダウンロードできます。投入は API が行うので、jinjer 画面へのアップロードは不要です。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83464"/>
            <a:ext cx="7772400" cy="2286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1">
                <a:solidFill>
                  <a:srgbClr val="6B7A88"/>
                </a:solidFill>
                <a:latin typeface="Meiryo UI"/>
              </a:rPr>
              <a:t>オペレーションハブ 勤怠チェック操作マニュアル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5952" y="283464"/>
            <a:ext cx="612648" cy="2286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050" b="1">
                <a:solidFill>
                  <a:srgbClr val="6B7A88"/>
                </a:solidFill>
                <a:latin typeface="Meiryo UI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03504"/>
            <a:ext cx="11128248" cy="10972"/>
          </a:xfrm>
          <a:prstGeom prst="rect">
            <a:avLst/>
          </a:prstGeom>
          <a:solidFill>
            <a:srgbClr val="D7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841248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2980B9"/>
                </a:solidFill>
                <a:latin typeface="Meiryo UI"/>
              </a:rPr>
              <a:t>SCHEDULE UPLOAD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170432"/>
            <a:ext cx="10972800" cy="4572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200" b="1">
                <a:solidFill>
                  <a:srgbClr val="243746"/>
                </a:solidFill>
                <a:latin typeface="Meiryo UI"/>
              </a:rPr>
              <a:t>シフト表から、jinjer へ「予定」を登録します。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719072"/>
            <a:ext cx="10972800" cy="3657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425466"/>
                </a:solidFill>
                <a:latin typeface="Meiryo UI"/>
              </a:rPr>
              <a:t>実績のチェックではなく、これから働く予定を入れる作業です。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2240280"/>
            <a:ext cx="35661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19" y="2441448"/>
            <a:ext cx="1965960" cy="310896"/>
          </a:xfrm>
          <a:prstGeom prst="roundRect">
            <a:avLst>
              <a:gd name="adj" fmla="val 12000"/>
            </a:avLst>
          </a:prstGeom>
          <a:solidFill>
            <a:srgbClr val="27AE60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19" y="2441448"/>
            <a:ext cx="1965960" cy="310896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eiryo UI"/>
              </a:rPr>
              <a:t>1. ファイルを入れる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" y="3008376"/>
            <a:ext cx="64008" cy="6400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2898648"/>
            <a:ext cx="2926080" cy="310896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425466"/>
                </a:solidFill>
                <a:latin typeface="Meiryo UI"/>
              </a:rPr>
              <a:t>シフト表をドラッグ&amp;ドロップ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" y="3374136"/>
            <a:ext cx="64008" cy="6400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3264408"/>
            <a:ext cx="2926080" cy="310896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425466"/>
                </a:solidFill>
                <a:latin typeface="Meiryo UI"/>
              </a:rPr>
              <a:t>Excel / PDF / PNG / JPG に対応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" y="3739896"/>
            <a:ext cx="64008" cy="6400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630168"/>
            <a:ext cx="2926080" cy="310896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425466"/>
                </a:solidFill>
                <a:latin typeface="Meiryo UI"/>
              </a:rPr>
              <a:t>凡例が別ファイルなら一緒に入れる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" y="4105656"/>
            <a:ext cx="64008" cy="6400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3995928"/>
            <a:ext cx="2926080" cy="310896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425466"/>
                </a:solidFill>
                <a:latin typeface="Meiryo UI"/>
              </a:rPr>
              <a:t>年月は Excel から読めないときだけ入力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15968" y="2240280"/>
            <a:ext cx="35661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17136" y="2441448"/>
            <a:ext cx="1810512" cy="310896"/>
          </a:xfrm>
          <a:prstGeom prst="roundRect">
            <a:avLst>
              <a:gd name="adj" fmla="val 12000"/>
            </a:avLst>
          </a:prstGeom>
          <a:solidFill>
            <a:srgbClr val="27AE60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17136" y="2441448"/>
            <a:ext cx="1810512" cy="310896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eiryo UI"/>
              </a:rPr>
              <a:t>2. 読み取りを直す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3008376"/>
            <a:ext cx="64008" cy="6400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36592" y="2898648"/>
            <a:ext cx="2926080" cy="310896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425466"/>
                </a:solidFill>
                <a:latin typeface="Meiryo UI"/>
              </a:rPr>
              <a:t>記号シフトは凡例の確認画面が出る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3374136"/>
            <a:ext cx="64008" cy="6400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36592" y="3264408"/>
            <a:ext cx="2926080" cy="310896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425466"/>
                </a:solidFill>
                <a:latin typeface="Meiryo UI"/>
              </a:rPr>
              <a:t>時刻・休憩が合っているか確認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0" y="3739896"/>
            <a:ext cx="64008" cy="6400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36592" y="3630168"/>
            <a:ext cx="2926080" cy="310896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425466"/>
                </a:solidFill>
                <a:latin typeface="Meiryo UI"/>
              </a:rPr>
              <a:t>違っていればその場で直す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01583" y="2240280"/>
            <a:ext cx="3557016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302752" y="2441448"/>
            <a:ext cx="2276856" cy="310896"/>
          </a:xfrm>
          <a:prstGeom prst="roundRect">
            <a:avLst>
              <a:gd name="adj" fmla="val 12000"/>
            </a:avLst>
          </a:prstGeom>
          <a:solidFill>
            <a:srgbClr val="27AE60"/>
          </a:solidFill>
          <a:ln w="1270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02752" y="2441448"/>
            <a:ext cx="2276856" cy="310896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eiryo UI"/>
              </a:rPr>
              <a:t>3. jinjer へ登録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57615" y="3008376"/>
            <a:ext cx="64008" cy="6400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22208" y="2898648"/>
            <a:ext cx="2916936" cy="310896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425466"/>
                </a:solidFill>
                <a:latin typeface="Meiryo UI"/>
              </a:rPr>
              <a:t>スケジュールCSVを作成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57615" y="3374136"/>
            <a:ext cx="64008" cy="6400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22208" y="3264408"/>
            <a:ext cx="2916936" cy="310896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425466"/>
                </a:solidFill>
                <a:latin typeface="Meiryo UI"/>
              </a:rPr>
              <a:t>API で jinjer へ投入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57615" y="3739896"/>
            <a:ext cx="64008" cy="6400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22208" y="3630168"/>
            <a:ext cx="2916936" cy="310896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425466"/>
                </a:solidFill>
                <a:latin typeface="Meiryo UI"/>
              </a:rPr>
              <a:t>開始時刻だけ直したいときは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425466"/>
                </a:solidFill>
                <a:latin typeface="Meiryo UI"/>
              </a:rPr>
              <a:t>　「ピンポイント修正」を使う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0352" y="5852160"/>
            <a:ext cx="11128248" cy="566928"/>
          </a:xfrm>
          <a:prstGeom prst="rect">
            <a:avLst/>
          </a:prstGeom>
          <a:solidFill>
            <a:srgbClr val="EBF6FD"/>
          </a:solidFill>
          <a:ln w="12700">
            <a:solidFill>
              <a:srgbClr val="2A8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5870448"/>
            <a:ext cx="10607040" cy="530352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425466"/>
                </a:solidFill>
                <a:latin typeface="Meiryo UI"/>
              </a:rPr>
              <a:t>ピンポイント修正は「社員番号, 日付, 新しい開始時刻」を1行1件で入力します。退勤予定・休憩予定はそのまま維持されます。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83464"/>
            <a:ext cx="7772400" cy="2286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1">
                <a:solidFill>
                  <a:srgbClr val="6B7A88"/>
                </a:solidFill>
                <a:latin typeface="Meiryo UI"/>
              </a:rPr>
              <a:t>オペレーションハブ 勤怠チェック操作マニュアル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5952" y="283464"/>
            <a:ext cx="612648" cy="2286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</a:pPr>
            <a:r>
              <a:rPr sz="1050" b="1">
                <a:solidFill>
                  <a:srgbClr val="6B7A88"/>
                </a:solidFill>
                <a:latin typeface="Meiryo UI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03504"/>
            <a:ext cx="11128248" cy="10972"/>
          </a:xfrm>
          <a:prstGeom prst="rect">
            <a:avLst/>
          </a:prstGeom>
          <a:solidFill>
            <a:srgbClr val="D7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841248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1">
                <a:solidFill>
                  <a:srgbClr val="2980B9"/>
                </a:solidFill>
                <a:latin typeface="Meiryo UI"/>
              </a:rPr>
              <a:t>TROUBLE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170432"/>
            <a:ext cx="10972800" cy="4572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200" b="1">
                <a:solidFill>
                  <a:srgbClr val="243746"/>
                </a:solidFill>
                <a:latin typeface="Meiryo UI"/>
              </a:rPr>
              <a:t>うまくいかないときに、最初に見るところ。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719072"/>
            <a:ext cx="10972800" cy="3657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425466"/>
                </a:solidFill>
                <a:latin typeface="Meiryo UI"/>
              </a:rPr>
              <a:t>多くは、指定したフォルダ違い・判断の入れ忘れ・対象月の書き方で起きます。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2194560"/>
            <a:ext cx="1112824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0352" y="2194560"/>
            <a:ext cx="54864" cy="658368"/>
          </a:xfrm>
          <a:prstGeom prst="rect">
            <a:avLst/>
          </a:prstGeom>
          <a:solidFill>
            <a:srgbClr val="29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67712"/>
            <a:ext cx="384048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243746"/>
                </a:solidFill>
                <a:latin typeface="Meiryo UI"/>
              </a:rPr>
              <a:t>対象月でエラーになる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267712"/>
            <a:ext cx="6766560" cy="54864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425466"/>
                </a:solidFill>
                <a:latin typeface="Meiryo UI"/>
              </a:rPr>
              <a:t>半角の YYYY-MM で入力してください（例: 2026-07）。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425466"/>
                </a:solidFill>
                <a:latin typeface="Meiryo UI"/>
              </a:rPr>
              <a:t>「2026/7」「2026-7」は通りません。全角で打つと自動で半角になります。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" y="2944368"/>
            <a:ext cx="1112824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0352" y="2944368"/>
            <a:ext cx="54864" cy="502920"/>
          </a:xfrm>
          <a:prstGeom prst="rect">
            <a:avLst/>
          </a:prstGeom>
          <a:solidFill>
            <a:srgbClr val="29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017520"/>
            <a:ext cx="384048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243746"/>
                </a:solidFill>
                <a:latin typeface="Meiryo UI"/>
              </a:rPr>
              <a:t>休憩時間の欄が書き換えられない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017520"/>
            <a:ext cx="6766560" cy="39319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425466"/>
                </a:solidFill>
                <a:latin typeface="Meiryo UI"/>
              </a:rPr>
              <a:t>自動計算のため固定しています。休憩1と復帰1に時刻を入れてください。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" y="3538727"/>
            <a:ext cx="1112824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3538727"/>
            <a:ext cx="54864" cy="658368"/>
          </a:xfrm>
          <a:prstGeom prst="rect">
            <a:avLst/>
          </a:prstGeom>
          <a:solidFill>
            <a:srgbClr val="29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611879"/>
            <a:ext cx="384048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243746"/>
                </a:solidFill>
                <a:latin typeface="Meiryo UI"/>
              </a:rPr>
              <a:t>並べ替え（昇順・降順）が使えない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3611879"/>
            <a:ext cx="6766560" cy="54864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425466"/>
                </a:solidFill>
                <a:latin typeface="Meiryo UI"/>
              </a:rPr>
              <a:t>シート保護のためです。［校閲］→［シート保護の解除］で外せます。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425466"/>
                </a:solidFill>
                <a:latin typeface="Meiryo UI"/>
              </a:rPr>
              <a:t>フィルタでの絞り込みは、解除しなくても使えます。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" y="4288536"/>
            <a:ext cx="1112824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0352" y="4288536"/>
            <a:ext cx="54864" cy="658368"/>
          </a:xfrm>
          <a:prstGeom prst="rect">
            <a:avLst/>
          </a:prstGeom>
          <a:solidFill>
            <a:srgbClr val="29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361688"/>
            <a:ext cx="384048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243746"/>
                </a:solidFill>
                <a:latin typeface="Meiryo UI"/>
              </a:rPr>
              <a:t>判断したのに反映されない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4361688"/>
            <a:ext cx="6766560" cy="54864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425466"/>
                </a:solidFill>
                <a:latin typeface="Meiryo UI"/>
              </a:rPr>
              <a:t>Excel で保存したか、「人間判断」列が空欄でないかを確認してください。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425466"/>
                </a:solidFill>
                <a:latin typeface="Meiryo UI"/>
              </a:rPr>
              <a:t>「保留」の日は、その日ごと投入対象から外れます。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0352" y="5038344"/>
            <a:ext cx="1112824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0352" y="5038344"/>
            <a:ext cx="54864" cy="658368"/>
          </a:xfrm>
          <a:prstGeom prst="rect">
            <a:avLst/>
          </a:prstGeom>
          <a:solidFill>
            <a:srgbClr val="29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111496"/>
            <a:ext cx="384048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243746"/>
                </a:solidFill>
                <a:latin typeface="Meiryo UI"/>
              </a:rPr>
              <a:t>差異一覧に出てこない人がいる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5111496"/>
            <a:ext cx="6766560" cy="54864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425466"/>
                </a:solidFill>
                <a:latin typeface="Meiryo UI"/>
              </a:rPr>
              <a:t>「未処理・未マッチ」シートを見てください。未提出者・jinjer勤怠未登録者・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425466"/>
                </a:solidFill>
                <a:latin typeface="Meiryo UI"/>
              </a:rPr>
              <a:t>解析できなかったファイルは、そこに氏名やファイル名が出ます。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" y="5989320"/>
            <a:ext cx="11128248" cy="4572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6B7A88"/>
                </a:solidFill>
                <a:latin typeface="Meiryo UI"/>
              </a:rPr>
              <a:t>画面の表記について: 手順②の案内文には「承認 / 却下 / 保留」と書かれていますが、差異一覧のプルダウンは「請求勤怠 / jinjer勤怠 / 保留」です。どちらの言い方でも同じ動きをします。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
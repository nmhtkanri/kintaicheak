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fd7257e720e4c87" Type="http://schemas.openxmlformats.org/officeDocument/2006/relationships/officeDocument" Target="ppt/presentation.xml"/><Relationship Id="R6b2213c0d9a14562" Type="http://schemas.openxmlformats.org/package/2006/relationships/metadata/core-properties" Target="docProps/core.xml"/><Relationship Id="Rdffcb3743d15432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e733a575394ed7"/>
  </p:sldMasterIdLst>
  <p:notesMasterIdLst>
    <p:notesMasterId xmlns:r="http://schemas.openxmlformats.org/officeDocument/2006/relationships" r:id="R2f2c8d94740743e3"/>
  </p:notesMasterIdLst>
  <p:sldIdLst>
    <p:sldId xmlns:r="http://schemas.openxmlformats.org/officeDocument/2006/relationships" id="256" r:id="R0266926a5b5e4446"/>
    <p:sldId xmlns:r="http://schemas.openxmlformats.org/officeDocument/2006/relationships" id="257" r:id="R6ac56aa5b37b4593"/>
    <p:sldId xmlns:r="http://schemas.openxmlformats.org/officeDocument/2006/relationships" id="258" r:id="R15a36215c96a4c83"/>
    <p:sldId xmlns:r="http://schemas.openxmlformats.org/officeDocument/2006/relationships" id="259" r:id="Rf642383106474334"/>
    <p:sldId xmlns:r="http://schemas.openxmlformats.org/officeDocument/2006/relationships" id="260" r:id="Re71a55c4cd55477d"/>
    <p:sldId xmlns:ns0="http://schemas.openxmlformats.org/officeDocument/2006/relationships" id="263" ns0:id="rId14"/>
    <p:sldId xmlns:r="http://schemas.openxmlformats.org/officeDocument/2006/relationships" id="261" r:id="R278e5929db874a46"/>
    <p:sldId xmlns:r="http://schemas.openxmlformats.org/officeDocument/2006/relationships" id="262" r:id="R3e8fc6a10c3d49ee"/>
    <p:sldId xmlns:ns0="http://schemas.openxmlformats.org/officeDocument/2006/relationships" id="264" ns0:id="rId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266926a5b5e4446" Type="http://schemas.openxmlformats.org/officeDocument/2006/relationships/slide" Target="slides/slide1.xml"/><Relationship Id="R15a36215c96a4c83" Type="http://schemas.openxmlformats.org/officeDocument/2006/relationships/slide" Target="slides/slide3.xml"/><Relationship Id="R20e733a575394ed7" Type="http://schemas.openxmlformats.org/officeDocument/2006/relationships/slideMaster" Target="slideMasters/slideMaster1.xml"/><Relationship Id="R24f72438e42641e0" Type="http://schemas.openxmlformats.org/officeDocument/2006/relationships/viewProps" Target="viewProps.xml"/><Relationship Id="R278e5929db874a46" Type="http://schemas.openxmlformats.org/officeDocument/2006/relationships/slide" Target="slides/slide7.xml"/><Relationship Id="R29cf83f4edb44417" Type="http://schemas.openxmlformats.org/officeDocument/2006/relationships/presProps" Target="presProps.xml"/><Relationship Id="R2f2c8d94740743e3" Type="http://schemas.openxmlformats.org/officeDocument/2006/relationships/notesMaster" Target="notesMasters/notesMaster1.xml"/><Relationship Id="R3b916fa0cddb47b9" Type="http://schemas.openxmlformats.org/officeDocument/2006/relationships/tableStyles" Target="tableStyles.xml"/><Relationship Id="R3e8fc6a10c3d49ee" Type="http://schemas.openxmlformats.org/officeDocument/2006/relationships/slide" Target="slides/slide8.xml"/><Relationship Id="R6ac56aa5b37b4593" Type="http://schemas.openxmlformats.org/officeDocument/2006/relationships/slide" Target="slides/slide2.xml"/><Relationship Id="Ra9852709305d4c72" Type="http://schemas.openxmlformats.org/officeDocument/2006/relationships/theme" Target="theme/theme1.xml"/><Relationship Id="Re71a55c4cd55477d" Type="http://schemas.openxmlformats.org/officeDocument/2006/relationships/slide" Target="slides/slide5.xml"/><Relationship Id="Rf642383106474334" Type="http://schemas.openxmlformats.org/officeDocument/2006/relationships/slide" Target="slides/slide4.xml"/><Relationship Id="rId14" Type="http://schemas.openxmlformats.org/officeDocument/2006/relationships/slide" Target="slides/slide6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7588c12bc4b74789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51bbf71d59f43fd" Type="http://schemas.openxmlformats.org/officeDocument/2006/relationships/notesMaster" Target="../notesMasters/notesMaster1.xml"/><Relationship Id="Raa1c518f02c143f7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b0857ad5028547aa" Type="http://schemas.openxmlformats.org/officeDocument/2006/relationships/notesMaster" Target="../notesMasters/notesMaster1.xml"/><Relationship Id="Rb56000b78f2347b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ed459fda5ee4f43" Type="http://schemas.openxmlformats.org/officeDocument/2006/relationships/notesMaster" Target="../notesMasters/notesMaster1.xml"/><Relationship Id="Rdfe4e3e11570444e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69fa4f82bda6408d" Type="http://schemas.openxmlformats.org/officeDocument/2006/relationships/notesMaster" Target="../notesMasters/notesMaster1.xml"/><Relationship Id="Rbe749f786b8840c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53431924480b4c90" Type="http://schemas.openxmlformats.org/officeDocument/2006/relationships/notesMaster" Target="../notesMasters/notesMaster1.xml"/><Relationship Id="R956401e3e431421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8f5cac020d0a44b9" Type="http://schemas.openxmlformats.org/officeDocument/2006/relationships/slide" Target="../slides/slide7.xml"/><Relationship Id="R94f0e8d322844a36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f22a49254040f8" Type="http://schemas.openxmlformats.org/officeDocument/2006/relationships/slide" Target="../slides/slide8.xml"/><Relationship Id="R6a0a619d2f7e471d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15a278c1751c4bad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64751420bbf42d0" Type="http://schemas.openxmlformats.org/officeDocument/2006/relationships/theme" Target="../theme/theme1.xml"/><Relationship Id="R7b871c1f2dce4ca9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871c1f2dce4c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84b854b2975d4bc3" Type="http://schemas.openxmlformats.org/officeDocument/2006/relationships/slideLayout" Target="../slideLayouts/slideLayout2.xml"/><Relationship Id="Rb385cd356ee7487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392d7fd617141c7" Type="http://schemas.openxmlformats.org/officeDocument/2006/relationships/slideLayout" Target="../slideLayouts/slideLayout2.xml"/><Relationship Id="Rd3ea517d96ed4c2b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c3094de93654993" Type="http://schemas.openxmlformats.org/officeDocument/2006/relationships/notesSlide" Target="../notesSlides/notesSlide3.xml"/><Relationship Id="R56c217e1259a48a6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29c804356dec4f8d" Type="http://schemas.openxmlformats.org/officeDocument/2006/relationships/notesSlide" Target="../notesSlides/notesSlide4.xml"/><Relationship Id="R5cc5a1034fa6442a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10b4c3990aac40e9" Type="http://schemas.openxmlformats.org/officeDocument/2006/relationships/slideLayout" Target="../slideLayouts/slideLayout2.xml"/><Relationship Id="R67c36936a0c94e4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43598b7887d04468" Type="http://schemas.openxmlformats.org/officeDocument/2006/relationships/notesSlide" Target="../notesSlides/notesSlide6.xml"/><Relationship Id="Ra8ffb66bbc404e3b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7e7c3f9e49424d77" Type="http://schemas.openxmlformats.org/officeDocument/2006/relationships/notesSlide" Target="../notesSlides/notesSlide7.xml"/><Relationship Id="R9b4700f423f34d3b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744DDE-DC7F-45D0-B37E-B14307A4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B1D23-9DD2-4828-8AA7-6EF60755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初回版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81E8B-B649-4DEC-BC3E-48489A7C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E2738-2765-4463-9782-F5F0C568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CA61D-BD86-475A-8C54-F3104AAA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723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勤怠突合チェッカー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FF5D4-C44C-4BCA-8F51-3A34447E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5905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操作マニュアル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CE80A-20AB-4D62-AEA0-9F1A64E2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905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勤怠チェックとスケジュールアップロードを、用途別に迷わず使うための簡易ガイドです。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E9F5D-30EF-47EB-83AB-B5CE35A1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24000"/>
            <a:ext cx="4095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F44B2-8993-4AAB-AD42-BC8C00D5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3714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5C2632-974F-4958-95C4-57B44F34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4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勤怠チェックモード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31552C-84BE-4188-9489-6F5DB8B6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スケジュールアップロードモード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F89940-1DC7-433C-BB95-D5E8853F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003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jinjer勤怠CSV × 請求勤怠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73345-0E2F-4A42-A6D6-344248E4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5755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画像・Excel → jinjer用スケジュールCSV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033CA2-D474-4706-8C9A-0F349BEE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57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A88"/>
                </a:solidFill>
                <a:latin typeface="Aptos"/>
                <a:ea typeface="Aptos"/>
                <a:cs typeface="Aptos"/>
              </a:rPr>
              <a:t>保存先: Z:\勤怠チェックシステム\kintai-checker\マニュアル</a:t>
            </a:r>
          </a:p>
        </p:txBody>
      </p:sp>
    </p:spTree>
    <p:extLst>
      <p:ext uri="{BB962C8B-B14F-4D97-AF65-F5344CB8AC3E}">
        <p14:creationId xmlns:p14="http://schemas.microsoft.com/office/powerpoint/2010/main" val="54560731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BBBD01-2EE8-4AA8-A2B9-C28997E2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380B74-237D-423F-805D-60357649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F4013-F17E-493C-82C1-79CD09BB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46ED2-3E78-4E00-9F2A-8B017C9F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976B0-135A-461E-9567-0911EFD8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MODE SELECT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45EAC1-BCDB-4CC4-918C-ABC56A24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最初に選ぶのは2つだけです。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2CA3D-6D42-40BA-8E1E-13DBCC96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作業の目的でモードを分けます。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C6323-E765-47E8-A148-899D3A40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60134-1C19-4EE6-9D11-A26F6F63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4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勤怠チェックモード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26E7E7-3352-47F9-ABA8-30B32AB3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814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使うとき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661E4-3B86-4959-9AB4-C35976DC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A02A54-C0D6-4A4E-AED3-75AC92C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6240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jinjer勤怠CSVと請求勤怠を突合したい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D9DDD-B71B-4A39-9219-92179938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E34A6-A4DF-4A2A-ACB0-EBF84BBF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6245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出勤・退勤の差分を確認したい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C9747-0EF0-4A4E-B38E-50CC5332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38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70897F-C875-4653-BE10-29EBDAB7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6250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月次で差異一覧やアップロードCSVを作りたい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44EA5-4B95-4B60-8777-042B6C95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762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C88411-53F0-4164-9B1C-2A86743B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0480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スケジュールアップロードモード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28702-6D5B-4078-AF3E-628D2825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814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使うとき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C3F887-2BD9-4BAE-AE63-0E679C17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38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4D92A-EC67-4E6D-ABBD-F0EBF536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96240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スケジュール表を画像・Excelなどから読み取りたい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7D408D-04B0-42AB-AB3D-C8412A89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386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A795B-1D0C-40C8-BCB7-B3D41D36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36245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凡例やシフト記号を確認してCSV化したい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601DC5-A21F-4331-97D1-DF52B85E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38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2D1391-6A90-4968-B10F-3CA8AA4AA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62500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jinjerへ月次スケジュールをアップロードしたい</a:t>
            </a:r>
          </a:p>
        </p:txBody>
      </p:sp>
    </p:spTree>
    <p:extLst>
      <p:ext uri="{BB962C8B-B14F-4D97-AF65-F5344CB8AC3E}">
        <p14:creationId xmlns:p14="http://schemas.microsoft.com/office/powerpoint/2010/main" val="205447885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764EB7-51BC-440B-B49A-06A8A150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4C850D-284D-457A-8FE6-80D1A8FD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C481A-2BDF-4AAA-92DE-B5E89545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C4C61-E38E-436B-8D5F-440B86B0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E985F-9B7F-42D8-A1F6-7FE10A2F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ATTENDANCE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9C8DEA-2F83-4EF7-A186-8E31B147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勤怠チェックモードの1番と2番は役割が違います。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45DCFB-B577-495E-BAEB-19C34FA7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1番は個別に突合する入口、2番は突合結果を月次でまとめる入口です。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6F95A-0C7E-4B01-8293-31485855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4FC"/>
          </a:solidFill>
          <a:ln xmlns:a="http://schemas.openxmlformats.org/drawingml/2006/main" w="9525">
            <a:solidFill>
              <a:srgbClr val="B8D7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FFFB9-467C-45F5-B5E0-29DC7248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05150"/>
            <a:ext cx="342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1. 勤怠チェック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2C429E-412F-4298-8013-5E531B03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入力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D96D4-1139-4B73-9F0C-2D78C12E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71475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jinjer勤怠CSV + 請求勤怠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48137D-5A45-4A02-A929-A11CB27E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14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出力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5691CC-3C23-45C7-B872-40A83304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11480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個別の勤怠突合結果.xlsx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EFD1F-0B7F-47BD-A772-C609725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3810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まずここで各ファイルの差分を作ります。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3B8009-7602-4254-8117-86E5B935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8290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0F357-05A5-46A2-833B-A7E80A0D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6235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7BBD3-A814-4960-B825-FA0A5732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57500"/>
            <a:ext cx="4762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3C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F838F-F911-4CDC-A500-DE9D1DCA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3714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2. 差異一覧を作る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357D21-7263-45CE-A398-3F670AE6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147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入力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C4B8C-EB30-455B-B715-11FA2BB6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1475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複数の勤怠突合結果.xlsx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3B7F47-DC8F-4696-AF31-3CEA00D1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出力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3F393B-B799-4708-BF80-1282565B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114800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人間判断用の差異一覧.xlsx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479C6C-B80F-4B0D-9E0E-3A993811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5910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月次でまとめて承認・却下を判断します。</a:t>
            </a:r>
          </a:p>
        </p:txBody>
      </p:sp>
    </p:spTree>
    <p:extLst>
      <p:ext uri="{BB962C8B-B14F-4D97-AF65-F5344CB8AC3E}">
        <p14:creationId xmlns:p14="http://schemas.microsoft.com/office/powerpoint/2010/main" val="447031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AA76B4-F1DD-4157-BF93-D61E3590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9C24B-0988-4660-AFDA-C7D0747A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57783-1020-45A0-882E-E990CED3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CDC31-4FD4-4A8C-BB48-8EB1D9C7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00986-91D3-4821-95AC-4C55AB8C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STEP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FE715-4787-4867-8401-6F5BFA05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勤怠チェックは、ファイルを2種類入れて実行します。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ECA0B-F7D9-4058-B4B4-050C7AE4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ここで作るExcelが、後続の月次集約の材料になります。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A8F340-36E0-4A01-A762-330BCAF9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3C6727-495A-46F4-8CA2-108E6272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242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jinjer 勤怠CSV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2D4ABE-8FBA-4490-A623-7314F287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51939-A685-4C84-A7D3-2153437A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766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jinjerから出力した勤怠CSV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C31364-1E8D-4E2C-9E1C-FA9A21E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B8CB6-22CA-412C-BB7B-D31C724E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957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1回の実行で1ファイル選択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5EF7A5-CE32-4B93-9567-F3A20097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765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52878-4C4E-4044-95BE-2DC34DB1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1242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請求勤怠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5A179-7B26-451E-A3C3-E5ACC823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752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0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95C9FF-7E2A-4198-B891-DCCAFE3E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766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Excel / PDF / 画像 / CSV など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DB950-200F-40C4-875A-C9CFA644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0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B73572-A128-43AC-B199-185601E2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957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複数ファイルをまとめて選択可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44FC30-AAA0-4996-8518-B90B005F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76550"/>
            <a:ext cx="3143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077E7D-C98A-4C92-B76E-AAC43175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242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チェック実行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4BB4A-7FC5-4A8D-B3E4-E33103F7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52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6E4F6F-02E4-4770-ACA4-6C9F3E16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766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許容差分は初期値10分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47BAE1-E5B7-413A-97EF-623E6B5C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71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1BA93B-5F0D-4620-AFE6-B8332A2C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95750"/>
            <a:ext cx="2266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結果Excelをダウンロード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A1563E-0E8A-44BA-93F5-6CC8E79B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5310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迷ったら: まず1番だけ実行して、個別の差分が正しく出るか確認します。</a:t>
            </a:r>
          </a:p>
        </p:txBody>
      </p:sp>
    </p:spTree>
    <p:extLst>
      <p:ext uri="{BB962C8B-B14F-4D97-AF65-F5344CB8AC3E}">
        <p14:creationId xmlns:p14="http://schemas.microsoft.com/office/powerpoint/2010/main" val="18460009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20F28-6AA1-4D99-8A5A-62651676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46727B-C659-468F-8B33-8A6D4B2E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CCF9F-3AD0-434E-A65F-BF7EB691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262E2-F37B-4C58-8916-38D723CFF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9A5A5-761E-4372-920A-2E320759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MONTHLY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434E4-3486-4F16-B334-27ED5CB4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月次処理は、差異一覧を作ってからCSV出力します。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F8BBC-FDA8-44AE-91FE-444FF40C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個別チェックが終わった後のまとめ作業です。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799F9-6EF1-4C82-8368-F6D1135B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9875"/>
            <a:ext cx="4476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F7D1F-FDC5-4AA9-8B17-8AFA0E88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6705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2. 差異一覧を作る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EC075-0740-4370-A39F-6F39B146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33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5689A-4766-4C0F-9A4C-58FC3E0D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5760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突合結果xlsxフォルダを指定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DE392-B058-47B6-A296-01E18F57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95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6D318-771E-497B-9467-4A384D3D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1955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jinjer汎用データCSVフォルダを指定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D4C38-A9BA-4E91-BD9C-22815718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EF904-4155-4BB7-808B-BBAB8C39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対象月と出力ファイル名を確認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62E11A-D14B-43AF-AEDD-1F8DFF1C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E3903-2E74-445C-9AF3-2A4242AE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43450"/>
            <a:ext cx="3219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差異一覧xlsxを出力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EC67F-FC96-41E8-A606-88C17BF0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09875"/>
            <a:ext cx="4476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B2685-CFC0-4F97-AED7-9183BAFC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6705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4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3. アップロード用CSVを作る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F2106C-563F-4442-89D2-9C5891A1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33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45924-D503-4914-AE1D-21F76F0B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5760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差異一覧xlsxをExcelで開く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4793A-5C9D-4270-A924-DE6B8D96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95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6B4C63-7241-4D15-9A6B-251E8645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1955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人間判断を承認 / 却下 / 保留で入力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FEDB65-D0E0-46AC-938C-480DCD7B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57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8EFFD9-092C-4F80-AC3D-8F01FE8A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8150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dry-runで内訳を確認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CA4581-5A32-4B61-AEAA-522491D2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196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5FF33F-304F-487C-8CDA-D6627D28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14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本実行でjinjerアップロード用CSVを出力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B491A2-57C6-42E1-8376-875C8092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857875"/>
            <a:ext cx="962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ポイント: 2番は「判断する一覧」を作る作業、3番は「jinjerへ戻すCSV」を作る作業です。</a:t>
            </a:r>
          </a:p>
        </p:txBody>
      </p:sp>
    </p:spTree>
    <p:extLst>
      <p:ext uri="{BB962C8B-B14F-4D97-AF65-F5344CB8AC3E}">
        <p14:creationId xmlns:p14="http://schemas.microsoft.com/office/powerpoint/2010/main" val="110335956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0116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C344B"/>
                </a:solidFill>
                <a:latin typeface="Yu Gothic"/>
              </a:defRPr>
            </a:pPr>
            <a:r>
              <a:t>勤怠突合チェッカー 操作マニュアル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55480" y="20116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1C344B"/>
                </a:solidFill>
                <a:latin typeface="Yu Gothic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A84C4"/>
                </a:solidFill>
                <a:latin typeface="Yu Gothic"/>
              </a:defRPr>
            </a:pPr>
            <a:r>
              <a:t>HUMAN JUDGMENT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14300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42638"/>
                </a:solidFill>
                <a:latin typeface="Yu Gothic"/>
              </a:defRPr>
            </a:pPr>
            <a:r>
              <a:t>承認・却下・保留は、jinjerへ戻すCSVをどう作るかを決める判断です。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47088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E7882"/>
                </a:solidFill>
                <a:latin typeface="Yu Gothic"/>
              </a:defRPr>
            </a:pPr>
            <a:r>
              <a:t>元の請求勤怠ファイルは上書きしません。③で作るjinjer戻し用CSVに反映されます。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42032"/>
            <a:ext cx="2788920" cy="1965960"/>
          </a:xfrm>
          <a:prstGeom prst="roundRect">
            <a:avLst/>
          </a:prstGeom>
          <a:solidFill>
            <a:srgbClr val="EBFAF2"/>
          </a:solidFill>
          <a:ln w="1778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724912"/>
            <a:ext cx="749808" cy="329184"/>
          </a:xfrm>
          <a:prstGeom prst="round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Yu Gothic"/>
              </a:defRPr>
            </a:pPr>
            <a:r>
              <a:t>承認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8211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42638"/>
                </a:solidFill>
                <a:latin typeface="Yu Gothic"/>
              </a:defRPr>
            </a:pPr>
            <a:r>
              <a:t>請求勤怠側の時刻で、jinjer戻し用CSVを修正する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50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6E7882"/>
                </a:solidFill>
                <a:latin typeface="Yu Gothic"/>
              </a:defRPr>
            </a:pPr>
            <a:r>
              <a:t>例: 請求勤怠 09:00 / jinjer 09:15 → CSVの出勤1を09:00へ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542032"/>
            <a:ext cx="2788920" cy="1965960"/>
          </a:xfrm>
          <a:prstGeom prst="roundRect">
            <a:avLst/>
          </a:prstGeom>
          <a:solidFill>
            <a:srgbClr val="FDEFED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59352" y="2724912"/>
            <a:ext cx="749808" cy="329184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Yu Gothic"/>
              </a:defRPr>
            </a:pPr>
            <a:r>
              <a:t>却下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9352" y="318211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42638"/>
                </a:solidFill>
                <a:latin typeface="Yu Gothic"/>
              </a:defRPr>
            </a:pPr>
            <a:r>
              <a:t>jinjer側をそのままにする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9352" y="3950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6E7882"/>
                </a:solidFill>
                <a:latin typeface="Yu Gothic"/>
              </a:defRPr>
            </a:pPr>
            <a:r>
              <a:t>請求勤怠側の時刻は採用せず、CSVでは変更しません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2592" y="2542032"/>
            <a:ext cx="2788920" cy="1965960"/>
          </a:xfrm>
          <a:prstGeom prst="roundRect">
            <a:avLst/>
          </a:prstGeom>
          <a:solidFill>
            <a:srgbClr val="F6F8FA"/>
          </a:solidFill>
          <a:ln w="17780">
            <a:solidFill>
              <a:srgbClr val="606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87183" y="2724912"/>
            <a:ext cx="749808" cy="329184"/>
          </a:xfrm>
          <a:prstGeom prst="roundRect">
            <a:avLst/>
          </a:prstGeom>
          <a:solidFill>
            <a:srgbClr val="606C78"/>
          </a:solidFill>
          <a:ln>
            <a:solidFill>
              <a:srgbClr val="606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Yu Gothic"/>
              </a:defRPr>
            </a:pPr>
            <a:r>
              <a:t>保留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3" y="318211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42638"/>
                </a:solidFill>
                <a:latin typeface="Yu Gothic"/>
              </a:defRPr>
            </a:pPr>
            <a:r>
              <a:t>今回は何もしない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7183" y="3950208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6E7882"/>
                </a:solidFill>
                <a:latin typeface="Yu Gothic"/>
              </a:defRPr>
            </a:pPr>
            <a:r>
              <a:t>確認待ちの目印です。CSVでは変更しません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5138928"/>
            <a:ext cx="9052560" cy="585216"/>
          </a:xfrm>
          <a:prstGeom prst="roundRect">
            <a:avLst/>
          </a:prstGeom>
          <a:solidFill>
            <a:srgbClr val="EBF6FD"/>
          </a:solidFill>
          <a:ln w="12700">
            <a:solidFill>
              <a:srgbClr val="2A84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C344B"/>
                </a:solidFill>
                <a:latin typeface="Yu Gothic"/>
              </a:defRPr>
            </a:pPr>
            <a:r>
              <a:t>注意: 休憩・総労働時間の行は確認用です。承認しても自動上書きはされません。自動反映するのは出勤・退勤の差異です。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E8B03B-1350-4E0E-9BE0-290EE5BDA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29B49-FC5A-414B-BC96-33E84733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EE098F-AD18-4B90-BB14-45CBA4FF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1C344B"/>
                </a:solidFill>
                <a:latin typeface="Yu Gothic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9CEC76-D2FA-4221-91B9-87DAB081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89C47-8A4F-495E-8930-6284EAD4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SCHEDULE UPLOAD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5AC98-CF7F-4F0D-8885-BF192A76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スケジュールアップロードは、画像・ExcelをCSVにする入口です。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7C0CD5-1A39-4121-A913-303ACCC4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勤怠の実績チェックではなく、jinjerへ登録する予定データを作ります。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7B052A-3B1B-4296-8B2A-F0CEF621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9525">
            <a:solidFill>
              <a:srgbClr val="B7E3C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F5A358-8663-451A-9AF1-B0E5E440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7AE6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7AE60"/>
                </a:solidFill>
                <a:latin typeface="Aptos"/>
                <a:ea typeface="Aptos"/>
                <a:cs typeface="Aptos"/>
              </a:rPr>
              <a:t>1. モード選択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F6EE9-5D3B-4BFA-BECF-DF2B7C7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CB91A-3D3C-4F40-AFDC-EFD7886E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147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スケジュールアップロードモードを選択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74C5CC-29A5-4B92-A9DE-8F4CDBC6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AE6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9B029-7A90-49D9-BFBB-7A4895A7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338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勤怠チェック用の入力欄は隠れます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D34BA8-862F-4BA5-8495-A2BEACBD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57AD3-76EE-4652-8953-080A408C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670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2. ファイル追加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12975-317D-4D03-9E84-7E92F123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790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0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41C789-A2C0-42CF-AE6B-794E765B6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7147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シフト表・凡例画像をまとめて追加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45E4C-6FAE-4C58-86A8-21E21A06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210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B04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A61A3-E7F9-4DBB-9874-BDBB4F09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Excel / PDF / PNG / JPG に対応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5833DC-A04C-4B4E-8E57-FFA55038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D703A-39CA-4565-809B-3304D156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670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3. 確認して出力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ACC548-89AB-47C5-9214-80F899EF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90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6DFE4-797A-42A1-89EA-BE72C1C1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7147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凡例が出たら時刻・休憩を確認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11886-BDAE-451B-B3F9-7C92B019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2100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AE2447-84E4-4395-90C6-2278BF17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33850"/>
            <a:ext cx="2457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スケジュールCSVをダウンロード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A88D75-655F-45D1-A656-85E789D9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注意: 凡例が別ファイルの場合は、シフト表と一緒に同じタイミングでアップロードします。</a:t>
            </a:r>
          </a:p>
        </p:txBody>
      </p:sp>
    </p:spTree>
    <p:extLst>
      <p:ext uri="{BB962C8B-B14F-4D97-AF65-F5344CB8AC3E}">
        <p14:creationId xmlns:p14="http://schemas.microsoft.com/office/powerpoint/2010/main" val="21381041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276E3A-3F9E-48DC-AFDF-337BBA72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19631-5641-490F-A7EC-018886C1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8"/>
                </a:solidFill>
                <a:latin typeface="Aptos"/>
                <a:ea typeface="Aptos"/>
                <a:cs typeface="Aptos"/>
              </a:rPr>
              <a:t>勤怠突合チェッカー 操作マニュアル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BFE76-05B6-426B-895F-6C27896D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60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1C344B"/>
                </a:solidFill>
                <a:latin typeface="Yu Gothic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FC2DA-C4D0-4ED3-B043-9E98B851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100420-BB79-4DF5-A993-056D7E09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TROUBLE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14250-AD18-451A-9B2E-7B7FD230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243746"/>
                </a:solidFill>
                <a:latin typeface="Yu Gothic"/>
                <a:ea typeface="Yu Gothic"/>
                <a:cs typeface="Yu Gothic"/>
              </a:rPr>
              <a:t>困ったときは、入力ファイルとモードを先に確認します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1EC60-FFA2-4F2B-8F0F-394AD20E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7239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エラーの多くは、モード違い・フォルダ違い・判断未入力で起きます。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0C2A2-CAA5-422A-A2F3-1E548B9D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43200"/>
            <a:ext cx="5143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18A73-9234-4BD3-97DD-53BDCCB4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28950"/>
            <a:ext cx="3238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374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43746"/>
                </a:solidFill>
                <a:latin typeface="Aptos"/>
                <a:ea typeface="Aptos"/>
                <a:cs typeface="Aptos"/>
              </a:rPr>
              <a:t>よくある確認ポイント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6458F-58C6-4B79-BCC6-D8CCDD2D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7A382-793D-4E19-8F0B-5EB597FD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19500"/>
            <a:ext cx="407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勤怠チェック: jinjer勤怠CSVと請求勤怠を両方入れたか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1E52D0-E2B3-47FC-A5AB-F1D0DC42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4E1D0-520A-4ADA-B853-790286EF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407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月次集約: 1番で出した突合結果xlsxのフォルダを指定したか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3061E0-1254-4DD9-BA70-195A1488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3253A-E5FD-49D6-A79D-2C8ACC20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407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CSV出力: 差異一覧xlsxの人間判断を入力したか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76924-2AFB-40BF-8171-7F79EC2E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95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3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64F689-6AE4-42EA-9582-5599AB35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19650"/>
            <a:ext cx="4076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スケジュール: シフト表と凡例画像を一緒に入れたか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4D724E-E2A3-4B5B-BDED-C2FB6010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4857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4FC"/>
          </a:solidFill>
          <a:ln xmlns:a="http://schemas.openxmlformats.org/drawingml/2006/main" w="9525">
            <a:solidFill>
              <a:srgbClr val="B8D7E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866D79-698B-4341-8BD0-75921F5C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28950"/>
            <a:ext cx="3238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980B9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980B9"/>
                </a:solidFill>
                <a:latin typeface="Aptos"/>
                <a:ea typeface="Aptos"/>
                <a:cs typeface="Aptos"/>
              </a:rPr>
              <a:t>出力ファイルの見方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FF72A4-DD88-41B8-AB88-D176ADB3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95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114863-6DFE-40E0-BD14-E2C0A4E9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19500"/>
            <a:ext cx="3790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勤怠突合結果.xlsx: 個別チェックの結果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9BD640-CE8A-42BA-9DCD-81035B04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95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791FDA-FF77-4455-A7AD-DE7FA056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19550"/>
            <a:ext cx="3790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差異一覧.xlsx: 月次で判断する一覧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21E125-EFCD-4529-8274-1E17D00A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95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B99877-785F-4363-B6C8-3D9BC823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19600"/>
            <a:ext cx="3790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jinjer_upload_*.csv: jinjerへ戻す勤怠CSV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F40542-FCC9-44DA-98D4-4F605707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895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80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6AE781-F311-4F5B-AD8A-DAA69DE9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19650"/>
            <a:ext cx="3790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スケジュールCSV: jinjer月次スケジュールへ登録するCSV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142C81-84F6-460C-A663-706A15D8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981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B7A8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B7A88"/>
                </a:solidFill>
                <a:latin typeface="Aptos"/>
                <a:ea typeface="Aptos"/>
                <a:cs typeface="Aptos"/>
              </a:rPr>
              <a:t>このマニュアルは初回版です。実運用で迷いやすい箇所が出たら、画面名に合わせて随時追記してください。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47049434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7955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64656"/>
                </a:solidFill>
              </a:defRPr>
            </a:pPr>
            <a:r>
              <a:t>勤怠突合チェッカー 操作マニュアル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66760" y="22860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364656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77EB8"/>
                </a:solidFill>
              </a:defRPr>
            </a:pPr>
            <a:r>
              <a:t>IMPORTANT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2D40"/>
                </a:solidFill>
              </a:defRPr>
            </a:pPr>
            <a:r>
              <a:t>jinjer側が空欄の人は、②から差異一覧を作り直します。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00784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E78"/>
                </a:solidFill>
              </a:defRPr>
            </a:pPr>
            <a:r>
              <a:t>総労働時間の「承認」だけでは、jinjer戻し用CSVの出勤1・退勤1は上書きされません。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38862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459736"/>
            <a:ext cx="355701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D40"/>
                </a:solidFill>
              </a:defRPr>
            </a:pPr>
            <a:r>
              <a:t>何が起きる？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743200"/>
            <a:ext cx="35570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E5862"/>
                </a:solidFill>
              </a:defRPr>
            </a:pPr>
            <a:r>
              <a:t>jinjer側に出勤・退勤が無い日は、総労働時間だけ承認してもCSVへ直接反映できません。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2331720"/>
            <a:ext cx="38862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2459736"/>
            <a:ext cx="355701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D40"/>
                </a:solidFill>
              </a:defRPr>
            </a:pPr>
            <a:r>
              <a:t>どこを見る？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743200"/>
            <a:ext cx="35570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E5862"/>
                </a:solidFill>
              </a:defRPr>
            </a:pPr>
            <a:r>
              <a:t>差異一覧で「差異種別」が 出勤 / 退勤 の行があるか確認します。総労働時間 / 休憩 は確認用です。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11880"/>
            <a:ext cx="38862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739896"/>
            <a:ext cx="355701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D40"/>
                </a:solidFill>
              </a:defRPr>
            </a:pPr>
            <a:r>
              <a:t>どう直す？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4023360"/>
            <a:ext cx="35570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E5862"/>
                </a:solidFill>
              </a:defRPr>
            </a:pPr>
            <a:r>
              <a:t>最新exeで②「差異一覧を作る」を再実行し、出勤 / 退勤 行を承認してから③を実行します。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3611880"/>
            <a:ext cx="38862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355701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D40"/>
                </a:solidFill>
              </a:defRPr>
            </a:pPr>
            <a:r>
              <a:t>共有メモ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4023360"/>
            <a:ext cx="3557016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E5862"/>
                </a:solidFill>
              </a:defRPr>
            </a:pPr>
            <a:r>
              <a:t>承認 = 請求勤怠側の時刻でjinjer戻し用CSVを修正。却下 = jinjerそのまま。保留 = 今回は何もしない。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04323"/>
                </a:solidFill>
              </a:defRPr>
            </a:pPr>
            <a:r>
              <a:t>補足: 最新版では、jinjer出勤/退勤が空欄で請求勤怠側に時刻がある場合、②で出勤/退勤の差異行を作成します。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2026-05-27T05:58:16.9470000Z</dcterms:created>
  <dcterms:modified xsi:type="dcterms:W3CDTF">2026-05-27T05:58:16.9470000Z</dcterms:modified>
</coreProperties>
</file>
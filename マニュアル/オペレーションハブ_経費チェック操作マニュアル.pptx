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88952" cy="54864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9AD1F0"/>
                </a:solidFill>
                <a:latin typeface="Meiryo UI"/>
              </a:rPr>
              <a:t>オペレーションハブ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eiryo UI"/>
              </a:rPr>
              <a:t>経費チェック 操作マニュアル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FE6F7"/>
                </a:solidFill>
                <a:latin typeface="Meiryo UI"/>
              </a:rPr>
              <a:t>承認前の交通費精査から、経費集計・jinjer投入までの月次の流れ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09160"/>
            <a:ext cx="1033272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D1F0"/>
                </a:solidFill>
                <a:latin typeface="Meiryo UI"/>
              </a:rPr>
              <a:t>株式会社エヌエム・ヒューマテック 管理部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9AD1F0"/>
                </a:solidFill>
                <a:latin typeface="Meiryo UI"/>
              </a:rPr>
              <a:t>2026年8月19日版（経費チェックタブの画面刷新に対応）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eiryo UI"/>
              </a:rPr>
              <a:t>このタブでやること／進み具合の見方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8EFFB"/>
                </a:solidFill>
                <a:latin typeface="Meiryo UI"/>
              </a:rPr>
              <a:t>経費が正しく申請されているかを承認前に確かめ、月次の集計とjinjer投入までを1つのタブで進めます。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eiryo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Meiryo UI"/>
              </a:rPr>
              <a:t>オペレーションハブ 経費チェック 操作マニュアル（2026-08-19版）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228600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5FA3"/>
                </a:solidFill>
                <a:latin typeface="Meiryo UI"/>
              </a:rPr>
              <a:t>目的と対象者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1206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・対象者: 管理部（経費・勤怠の担当者）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・交通費の申請ミスを承認前＝差し戻せるうちに見つける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・jinjer / e-staffing / SAP / freee の経費をまとめ、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　給与インポートCSVを作ってjinjerへ投入する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・毎月この順で回す: ①集計 → ②精査（何度でも）→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　承認が出揃う → 経費集計 → 投入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80160"/>
            <a:ext cx="5440680" cy="2286000"/>
          </a:xfrm>
          <a:prstGeom prst="rect">
            <a:avLst/>
          </a:prstGeom>
          <a:solidFill>
            <a:srgbClr val="FFFBEC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0292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B06A00"/>
                </a:solidFill>
                <a:latin typeface="Meiryo UI"/>
              </a:rPr>
              <a:t>重要チェックポイント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12064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・②の精査は承認が進むたびに何度でも実行してよい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　（数秒で終わり、前回との差分＝新規/継続/解消が付く）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・「進行中 0件」になったら、その月の精査は見終わり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・投入が済んだら台帳を「確定」する（翌月の二重取込防止）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82296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5FA3"/>
                </a:solidFill>
                <a:latin typeface="Meiryo UI"/>
              </a:rPr>
              <a:t>画面上部の「進み具合」バー（対象月を入れると出ます）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60520"/>
            <a:ext cx="11201400" cy="685800"/>
          </a:xfrm>
          <a:prstGeom prst="rect">
            <a:avLst/>
          </a:prstGeom>
          <a:solidFill>
            <a:srgbClr val="FAFCFF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315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333333"/>
                </a:solidFill>
                <a:latin typeface="Meiryo UI"/>
              </a:rPr>
              <a:t>2026年07月の進み具合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315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8A745"/>
                </a:solidFill>
                <a:latin typeface="Meiryo UI"/>
              </a:rPr>
              <a:t>✓ ①集計  08/04 15:20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4315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B06A00"/>
                </a:solidFill>
                <a:latin typeface="Meiryo UI"/>
              </a:rPr>
              <a:t>● ②精査  進行中774件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315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88888"/>
                </a:solidFill>
                <a:latin typeface="Meiryo UI"/>
              </a:rPr>
              <a:t>○ 統合一覧表  未検出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315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888888"/>
                </a:solidFill>
                <a:latin typeface="Meiryo UI"/>
              </a:rPr>
              <a:t>○ jinjer投入  台帳に記録なし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83480"/>
            <a:ext cx="111556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88888"/>
                </a:solidFill>
                <a:latin typeface="Meiryo UI"/>
              </a:rPr>
              <a:t>✓＝できている　●＝進行中（②は承認待ちの件数。0件になれば見終わり）　○＝まだ・見つからない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88888"/>
                </a:solidFill>
                <a:latin typeface="Meiryo UI"/>
              </a:rPr>
              <a:t>※ファイル名を変えて保存した成果物までは追えないため、「未検出」＝未実行とは限りません。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eiryo UI"/>
              </a:rPr>
              <a:t>月次の全体フロー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8EFFB"/>
                </a:solidFill>
                <a:latin typeface="Meiryo UI"/>
              </a:rPr>
              <a:t>左から右へ。②だけは承認が進むたびに繰り返します。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eiryo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Meiryo UI"/>
              </a:rPr>
              <a:t>オペレーションハブ 経費チェック 操作マニュアル（2026-08-19版）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5146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2514600" cy="50292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eiryo U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333333"/>
                </a:solidFill>
                <a:latin typeface="Meiryo UI"/>
              </a:rPr>
              <a:t>① 集計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2240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テレワーク・通勤費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マスタをAPIで取得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（数分・月1回）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78892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88888"/>
                </a:solidFill>
                <a:latin typeface="Meiryo U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1645920"/>
            <a:ext cx="25146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645920"/>
            <a:ext cx="2514600" cy="50292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737360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eiryo U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33172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333333"/>
                </a:solidFill>
                <a:latin typeface="Meiryo UI"/>
              </a:rPr>
              <a:t>② 承認前精査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926080"/>
            <a:ext cx="2240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申請×マスタを突合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画面の表で差し戻し判断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（数秒・何度でも）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1" y="278892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88888"/>
                </a:solidFill>
                <a:latin typeface="Meiryo U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645920"/>
            <a:ext cx="25146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645920"/>
            <a:ext cx="2514600" cy="50292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737360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eiryo UI"/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333333"/>
                </a:solidFill>
                <a:latin typeface="Meiryo UI"/>
              </a:rPr>
              <a:t>経費集計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2240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4ソースCSVを統合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経路突合レビューで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計上先を選ぶ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7112" y="2788920"/>
            <a:ext cx="365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888888"/>
                </a:solidFill>
                <a:latin typeface="Meiryo U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1645920"/>
            <a:ext cx="25146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60" y="1645920"/>
            <a:ext cx="2514600" cy="502920"/>
          </a:xfrm>
          <a:prstGeom prst="rect">
            <a:avLst/>
          </a:prstGeom>
          <a:solidFill>
            <a:srgbClr val="005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737360"/>
            <a:ext cx="2514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eiryo UI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331720"/>
            <a:ext cx="23317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333333"/>
                </a:solidFill>
                <a:latin typeface="Meiryo UI"/>
              </a:rPr>
              <a:t>jinjer投入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926080"/>
            <a:ext cx="2240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給与インポートCSVを</a:t>
            </a:r>
          </a:p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投入し、台帳を確定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5FA3"/>
                </a:solidFill>
                <a:latin typeface="Meiryo UI"/>
              </a:rPr>
              <a:t>②で見つけた誤りは jinjer 上で差し戻し → 修正・再申請 → もう一度②を実行、を繰り返します。</a:t>
            </a:r>
          </a:p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5FA3"/>
                </a:solidFill>
                <a:latin typeface="Meiryo UI"/>
              </a:rPr>
              <a:t>③「仕訳データへの定期代追記」はイレギュラー救済（毎月の作業ではありません。STEP 3 の前に必要な時だけ）。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eiryo UI"/>
              </a:rPr>
              <a:t>STEP 1｜① テレワーク・通勤費マスタを集計する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8EFFB"/>
                </a:solidFill>
                <a:latin typeface="Meiryo UI"/>
              </a:rPr>
              <a:t>月に1回。ここで作るExcelブックが ②と③ の入力になります。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eiryo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Meiryo UI"/>
              </a:rPr>
              <a:t>オペレーションハブ 経費チェック 操作マニュアル（2026-08-19版）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772400" cy="4846320"/>
          </a:xfrm>
          <a:prstGeom prst="rect">
            <a:avLst/>
          </a:prstGeom>
          <a:solidFill>
            <a:srgbClr val="D0E8F5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74720"/>
            <a:ext cx="74066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5FA3"/>
                </a:solidFill>
                <a:latin typeface="Meiryo UI"/>
              </a:rPr>
              <a:t>[  ①ブロックの画面（対象月〜集計を実行） 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371600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5FA3"/>
                </a:solidFill>
                <a:latin typeface="Meiryo UI"/>
              </a:rPr>
              <a:t>手順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1828800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847088"/>
            <a:ext cx="27432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「経費チェック」タブを開く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587752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06040"/>
            <a:ext cx="27432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対象月を入れる（例: 2026-07）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346704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364992"/>
            <a:ext cx="27432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「集計を実行」を押す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4105656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4123944"/>
            <a:ext cx="27432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数分待つ（全員分をAPI取得）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4864608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882896"/>
            <a:ext cx="27432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完了すると②のブック欄に自動で入る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571500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5852160"/>
            <a:ext cx="3200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DC3545"/>
                </a:solidFill>
                <a:latin typeface="Meiryo UI"/>
              </a:rPr>
              <a:t>他のAPI取得（経費インポート等）と同時に走らせない（jinjerのアクセス制限で失敗します）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eiryo UI"/>
              </a:rPr>
              <a:t>STEP 2｜② 承認前の交通費精査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8EFFB"/>
                </a:solidFill>
                <a:latin typeface="Meiryo UI"/>
              </a:rPr>
              <a:t>申請とマスタの言い分が画面に並びます。差し戻すかどうかはこの表で判断できます。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eiryo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Meiryo UI"/>
              </a:rPr>
              <a:t>オペレーションハブ 経費チェック 操作マニュアル（2026-08-19版）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24712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333333"/>
                </a:solidFill>
                <a:latin typeface="Meiryo UI"/>
              </a:rPr>
              <a:t>1  交通費申請CSV（jinjer経費のエクスポート）と ①のブック を指定 →  2  「承認前精査を実行」→  3  下の表で判断 →  4  誤りは jinjer で差し戻し → 承認が進んだら再実行</a:t>
            </a:r>
          </a:p>
        </p:txBody>
      </p:sp>
      <p:pic>
        <p:nvPicPr>
          <p:cNvPr id="8" name="Picture 7" descr="ss_flagge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201400" cy="180548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2103120"/>
            <a:ext cx="11201400" cy="1805488"/>
          </a:xfrm>
          <a:prstGeom prst="rect">
            <a:avLst/>
          </a:prstGeom>
          <a:noFill/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5FA3"/>
                </a:solidFill>
                <a:latin typeface="Meiryo UI"/>
              </a:rPr>
              <a:t>表の見方（例は架空データ）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1115568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・申請額とマスタ額・差額が並び、経路は「申請」と「マスタ」の2段で比べられます（不一致は赤）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・備考（申請者の弁明）も出ます — 例:「８月分定期代」なら先行申請だとその場で分かります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・「前回比」が新規の行は赤背景。承認が進むたび再実行すると 新規/継続/解消 が更新されます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33333"/>
                </a:solidFill>
                <a:latin typeface="Meiryo UI"/>
              </a:rPr>
              <a:t>・ここに出るのは金額・経路の要確認だけ。マスタ更新漏れ・上限超過などの明細はxlsxで確認します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8A745"/>
                </a:solidFill>
                <a:latin typeface="Meiryo UI"/>
              </a:rPr>
              <a:t>サマリの「進行中」が0件になったら、その月の精査は見終わりです。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eiryo UI"/>
              </a:rPr>
              <a:t>STEP 3｜経費集計と経路突合レビュー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8EFFB"/>
                </a:solidFill>
                <a:latin typeface="Meiryo UI"/>
              </a:rPr>
              <a:t>統合一覧表を作る前に、要確認の行だけ「通勤費か移動交通費か」を人が選びます。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eiryo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Meiryo UI"/>
              </a:rPr>
              <a:t>オペレーションハブ 経費チェック 操作マニュアル（2026-08-19版）</a:t>
            </a:r>
          </a:p>
        </p:txBody>
      </p:sp>
      <p:pic>
        <p:nvPicPr>
          <p:cNvPr id="7" name="Picture 6" descr="ss_rout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7589520" cy="209976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371600"/>
            <a:ext cx="7589520" cy="2099767"/>
          </a:xfrm>
          <a:prstGeom prst="rect">
            <a:avLst/>
          </a:prstGeom>
          <a:noFill/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371600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5FA3"/>
                </a:solidFill>
                <a:latin typeface="Meiryo UI"/>
              </a:rPr>
              <a:t>カードの見方（例は架空データ）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783080"/>
            <a:ext cx="3383280" cy="3291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・グループは3色: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　赤＝経路内なのに別区分（初期値: 通勤費）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　黄＝経路外の申請（初期値: 移動交通費）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　青＝片側のみ一致（初期値: 申請どおり）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・「申請」と「マスタ」の経路が2段で並び、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　備考も表示されます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・違うと思う行だけ右のプルダウンを変える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・畳んだグループの選択もそのまま反映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　（開かなくてもOK）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・最後に「選択を反映して生成」を押す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31920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5FA3"/>
                </a:solidFill>
                <a:latin typeface="Meiryo UI"/>
              </a:rPr>
              <a:t>操作の流れ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4343400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70832"/>
            <a:ext cx="10607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Meiryo UI"/>
              </a:rPr>
              <a:t>4ソースのCSVを指定して「統合一覧表を生成」を押すと、先にこのカード一覧が出ます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846320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73752"/>
            <a:ext cx="10607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Meiryo UI"/>
              </a:rPr>
              <a:t>気になる行だけ確認し、計上先のプルダウンを変えます（初期値のままでもOK）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349240"/>
            <a:ext cx="347472" cy="347472"/>
          </a:xfrm>
          <a:prstGeom prst="ellipse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76672"/>
            <a:ext cx="10607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33333"/>
                </a:solidFill>
                <a:latin typeface="Meiryo UI"/>
              </a:rPr>
              <a:t>「選択を反映して生成」を押すと、統合一覧表・分類集計・給与インポートCSVができます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43600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88888"/>
                </a:solidFill>
                <a:latin typeface="Meiryo UI"/>
              </a:rPr>
              <a:t>移動交通費（立替精算）対象者の通勤系申請は自動で立替金になるため、この表には出ません。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eiryo UI"/>
              </a:rPr>
              <a:t>STEP 4｜③ 定期代追記（使う時だけ）と jinjer投入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8EFFB"/>
                </a:solidFill>
                <a:latin typeface="Meiryo UI"/>
              </a:rPr>
              <a:t>③はイレギュラー救済です。毎月の定常作業ではありません。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eiryo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Meiryo UI"/>
              </a:rPr>
              <a:t>オペレーションハブ 経費チェック 操作マニュアル（2026-08-19版）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4480560"/>
          </a:xfrm>
          <a:prstGeom prst="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5FA3"/>
                </a:solidFill>
                <a:latin typeface="Meiryo UI"/>
              </a:rPr>
              <a:t>③ 仕訳データへの定期代追記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いつ使う？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定期代の人は毎月申請しないのが正常。申請が無いまま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仕訳に載らず支給漏れになる分を救済する時だけ。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手順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1. 仕訳データCSV（ファイルまたはフォルダ）を指定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2. 「追記内容をプレビュー」で対象者を確認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3. ※要確認の行を目視 → チェックを入れて生成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4. できたCSVを jinjer経費のフォルダに追加する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　（元ファイルの入れ替えは不要）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計上済みの人は自動でスキップされるため、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再実行しても二重にはなりません。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440680" cy="4480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5FA3"/>
                </a:solidFill>
                <a:latin typeface="Meiryo UI"/>
              </a:rPr>
              <a:t>jinjer投入と台帳の確定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5029200" cy="3840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1. 経路突合レビューを終えて統合一覧表を生成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2. 給与インポートCSVの内容をプレビューで確認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3. jinjerへ投入（処理月を確認してから）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4. 投入が済んだら「台帳を確定」を押す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　→ 翌月のSAP重複除外がこの台帳を見ます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投入後にイレギュラー経費が出てきた場合は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「追加投入」を使うと、統合一覧表を作り直さずに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Meiryo UI"/>
              </a:rPr>
              <a:t>前回分＋追加分の全行で再投入できます。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8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969264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Meiryo UI"/>
              </a:rPr>
              <a:t>注意事項・よくあるつまずき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62179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D8EFFB"/>
                </a:solidFill>
                <a:latin typeface="Meiryo UI"/>
              </a:rPr>
              <a:t>エラーの多くは入力ファイルの取り違えで起きます。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201168"/>
            <a:ext cx="7315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Meiryo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88888"/>
                </a:solidFill>
                <a:latin typeface="Meiryo UI"/>
              </a:rPr>
              <a:t>オペレーションハブ 経費チェック 操作マニュアル（2026-08-19版）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40680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DC3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4983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C3545"/>
                </a:solidFill>
                <a:latin typeface="Meiryo UI"/>
              </a:rPr>
              <a:t>②のブック欄に「精査結果」を入れない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9834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3333"/>
                </a:solidFill>
                <a:latin typeface="Meiryo UI"/>
              </a:rPr>
              <a:t>②の入力は ①で出した経費チェックのブックです。精査結果（交通費精査結果_～.xlsx）を指定すると日本語のエラーで止まります（ファイルは壊れません）。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5440680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B0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983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B06A00"/>
                </a:solidFill>
                <a:latin typeface="Meiryo UI"/>
              </a:rPr>
              <a:t>「未検出」＝未実行とは限らない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49834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3333"/>
                </a:solidFill>
                <a:latin typeface="Meiryo UI"/>
              </a:rPr>
              <a:t>進み具合バーは outputs フォルダの成果物を探します。ファイル名を変えて保存した場合は見つけられないため、「未検出」表示でも慌てずに実物を確認してください。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5440680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28A7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4983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8A745"/>
                </a:solidFill>
                <a:latin typeface="Meiryo UI"/>
              </a:rPr>
              <a:t>経路レビューは畳んだままで大丈夫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49834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3333"/>
                </a:solidFill>
                <a:latin typeface="Meiryo UI"/>
              </a:rPr>
              <a:t>確定時は全行の選択が揃っているかをサーバでも検査します。畳んだグループの初期値もそのまま送られるので、開いて確認するのは気になる行だけで構いません。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931920"/>
            <a:ext cx="5440680" cy="23317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5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114800"/>
            <a:ext cx="4983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05FA3"/>
                </a:solidFill>
                <a:latin typeface="Meiryo UI"/>
              </a:rPr>
              <a:t>通勤費の上限3万円と免除者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709159"/>
            <a:ext cx="49834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33333"/>
                </a:solidFill>
                <a:latin typeface="Meiryo UI"/>
              </a:rPr>
              <a:t>上限超過の検知と免除者の扱いは共有フォルダのリスト（通勤費_上限免除者.csv 等）で管理しています。対象者が増減したらCSVを直すだけで反映されます。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
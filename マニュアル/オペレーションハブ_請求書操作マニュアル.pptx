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AD1F0"/>
                </a:solidFill>
              </a:rPr>
              <a:t>オペレーションハブ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請求書 操作マニュアル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611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FE6F7"/>
                </a:solidFill>
              </a:rPr>
              <a:t>提出用PDFの作成から、freee売上取引CSVの作成までの月次の流れ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D1F0"/>
                </a:solidFill>
              </a:rPr>
              <a:t>株式会社エヌエム・ヒューマテック 管理部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このタブでやること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217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D8EFFB"/>
                </a:solidFill>
              </a:rPr>
              <a:t>常駐先への請求書提出と、freeeへの売上計上を1つのタブでまとめて行います。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2011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オペレーションハブ 請求書 操作マニュアル（2026-08-20版）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5394960" cy="2331720"/>
          </a:xfrm>
          <a:prstGeom prst="rect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5FA3"/>
                </a:solidFill>
              </a:rPr>
              <a:t>目的と対象者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・対象者: 管理部（請求担当）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・月1回、常駐先28フォルダぶんの請求をまとめて処理します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・freeeへの取込と、請求書の提出そのものは人が行います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・画面が変えるのは共有フォルダとCSVだけで、freeeには書きません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371600"/>
            <a:ext cx="5486400" cy="233172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06A00"/>
                </a:solidFill>
              </a:rPr>
              <a:t>はじめる前に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・請求書Excelの当月シートに金額を入れておく（人の作業）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・前月シートをコピーしたら、請求日・請求書番号・入金期日も直す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・勤怠PDF（業務実績表・タイムシート等）が所定の場所にあること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931920"/>
            <a:ext cx="11155680" cy="2148840"/>
          </a:xfrm>
          <a:prstGeom prst="rect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6908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5FA3"/>
                </a:solidFill>
              </a:rPr>
              <a:t>2つのブロック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43484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① 請求書と勤怠を綴じて提出用PDFを作る … 会社ごとのボタンを押すと、その会社の全員ぶんを作ります。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　　いまはアクシスＩＴパートナーズ様・エヌアイシー・ソフト様の2社4名が対象です。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② 提出済みの請求書PDFからfreee取込CSVを作る … 28フォルダを探して読み取り、画面で直してからCSVにします。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月次の全体フロー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217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D8EFFB"/>
                </a:solidFill>
              </a:rPr>
              <a:t>上から順に進めます。①と②は別の作業なので、片方だけでも使えます。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2011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オペレーションハブ 請求書 操作マニュアル（2026-08-20版）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2057400" cy="2148840"/>
          </a:xfrm>
          <a:prstGeom prst="rect">
            <a:avLst/>
          </a:prstGeom>
          <a:solidFill>
            <a:srgbClr val="E8F4FD"/>
          </a:solidFill>
          <a:ln w="19050">
            <a:solidFill>
              <a:srgbClr val="28A7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2286000"/>
            <a:ext cx="411480" cy="411480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8745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5FA3"/>
                </a:solidFill>
              </a:rPr>
              <a:t>請求書Excelに</a:t>
            </a:r>
          </a:p>
          <a:p>
            <a:pPr algn="ctr"/>
            <a:r>
              <a:rPr sz="1300" b="1">
                <a:solidFill>
                  <a:srgbClr val="005FA3"/>
                </a:solidFill>
              </a:rPr>
              <a:t>金額を入れる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888888"/>
                </a:solidFill>
              </a:rPr>
              <a:t>人の作業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8BD8"/>
                </a:solidFill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360" y="2103120"/>
            <a:ext cx="2057400" cy="2148840"/>
          </a:xfrm>
          <a:prstGeom prst="rect">
            <a:avLst/>
          </a:prstGeom>
          <a:solidFill>
            <a:srgbClr val="E8F4FD"/>
          </a:solidFill>
          <a:ln w="19050">
            <a:solidFill>
              <a:srgbClr val="008B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703320" y="2286000"/>
            <a:ext cx="411480" cy="411480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834640"/>
            <a:ext cx="18745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5FA3"/>
                </a:solidFill>
              </a:rPr>
              <a:t>① 提出用PDFを</a:t>
            </a:r>
          </a:p>
          <a:p>
            <a:pPr algn="ctr"/>
            <a:r>
              <a:rPr sz="1300" b="1">
                <a:solidFill>
                  <a:srgbClr val="005FA3"/>
                </a:solidFill>
              </a:rPr>
              <a:t>作る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65760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888888"/>
                </a:solidFill>
              </a:rPr>
              <a:t>会社ごとのボタン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65192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8BD8"/>
                </a:solidFill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79" y="2103120"/>
            <a:ext cx="2057400" cy="2148840"/>
          </a:xfrm>
          <a:prstGeom prst="rect">
            <a:avLst/>
          </a:prstGeom>
          <a:solidFill>
            <a:srgbClr val="E8F4FD"/>
          </a:solidFill>
          <a:ln w="19050">
            <a:solidFill>
              <a:srgbClr val="28A7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035040" y="2286000"/>
            <a:ext cx="411480" cy="411480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19" y="2834640"/>
            <a:ext cx="18745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5FA3"/>
                </a:solidFill>
              </a:rPr>
              <a:t>請求書を</a:t>
            </a:r>
          </a:p>
          <a:p>
            <a:pPr algn="ctr"/>
            <a:r>
              <a:rPr sz="1300" b="1">
                <a:solidFill>
                  <a:srgbClr val="005FA3"/>
                </a:solidFill>
              </a:rPr>
              <a:t>常駐先へ提出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19" y="365760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888888"/>
                </a:solidFill>
              </a:rPr>
              <a:t>人の作業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96911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8BD8"/>
                </a:solidFill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43800" y="2103120"/>
            <a:ext cx="2057400" cy="2148840"/>
          </a:xfrm>
          <a:prstGeom prst="rect">
            <a:avLst/>
          </a:prstGeom>
          <a:solidFill>
            <a:srgbClr val="E8F4FD"/>
          </a:solidFill>
          <a:ln w="19050">
            <a:solidFill>
              <a:srgbClr val="008B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66760" y="2286000"/>
            <a:ext cx="411480" cy="411480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2834640"/>
            <a:ext cx="18745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5FA3"/>
                </a:solidFill>
              </a:rPr>
              <a:t>② PDFを検索</a:t>
            </a:r>
          </a:p>
          <a:p>
            <a:pPr algn="ctr"/>
            <a:r>
              <a:rPr sz="1300" b="1">
                <a:solidFill>
                  <a:srgbClr val="005FA3"/>
                </a:solidFill>
              </a:rPr>
              <a:t>して確認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365760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888888"/>
                </a:solidFill>
              </a:rPr>
              <a:t>赤い行を直す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28632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8BD8"/>
                </a:solidFill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75519" y="2103120"/>
            <a:ext cx="2057400" cy="2148840"/>
          </a:xfrm>
          <a:prstGeom prst="rect">
            <a:avLst/>
          </a:prstGeom>
          <a:solidFill>
            <a:srgbClr val="E8F4FD"/>
          </a:solidFill>
          <a:ln w="19050">
            <a:solidFill>
              <a:srgbClr val="008B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98480" y="2286000"/>
            <a:ext cx="411480" cy="411480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59" y="2834640"/>
            <a:ext cx="18745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5FA3"/>
                </a:solidFill>
              </a:rPr>
              <a:t>freee CSVを</a:t>
            </a:r>
          </a:p>
          <a:p>
            <a:pPr algn="ctr"/>
            <a:r>
              <a:rPr sz="1300" b="1">
                <a:solidFill>
                  <a:srgbClr val="005FA3"/>
                </a:solidFill>
              </a:rPr>
              <a:t>作成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59" y="365760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888888"/>
                </a:solidFill>
              </a:rPr>
              <a:t>取込は人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①で作ったPDFを提出したあと、②でそのPDFを読み取ってfreee用のCSVにします。②は提出済みのPDFを見るので、①より後に行ってください。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STEP 1｜① 請求書と勤怠を綴じて提出用PDFを作る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217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D8EFFB"/>
                </a:solidFill>
              </a:rPr>
              <a:t>月に1回。請求書Excelの当月シートと勤怠PDFを1つのPDFにして、提出データフォルダへ置きます。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2011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オペレーションハブ 請求書 操作マニュアル（2026-08-20版）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7772400" cy="4846320"/>
          </a:xfrm>
          <a:prstGeom prst="rect">
            <a:avLst/>
          </a:prstGeom>
          <a:solidFill>
            <a:srgbClr val="D0E8F5"/>
          </a:solidFill>
          <a:ln w="19050">
            <a:solidFill>
              <a:srgbClr val="008B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474720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5FA3"/>
                </a:solidFill>
              </a:rPr>
              <a:t>[  ①ブロックの画面（対象月と会社ごとのボタン） 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5FA3"/>
                </a:solidFill>
              </a:rPr>
              <a:t>手順</a:t>
            </a:r>
          </a:p>
        </p:txBody>
      </p:sp>
      <p:sp>
        <p:nvSpPr>
          <p:cNvPr id="10" name="Oval 9"/>
          <p:cNvSpPr/>
          <p:nvPr/>
        </p:nvSpPr>
        <p:spPr>
          <a:xfrm>
            <a:off x="8503920" y="1828800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847088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「請求書」タブを開く</a:t>
            </a:r>
          </a:p>
        </p:txBody>
      </p:sp>
      <p:sp>
        <p:nvSpPr>
          <p:cNvPr id="12" name="Oval 11"/>
          <p:cNvSpPr/>
          <p:nvPr/>
        </p:nvSpPr>
        <p:spPr>
          <a:xfrm>
            <a:off x="8503920" y="2587752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260604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対象月を入れる（例: 2026-07）</a:t>
            </a:r>
          </a:p>
        </p:txBody>
      </p:sp>
      <p:sp>
        <p:nvSpPr>
          <p:cNvPr id="14" name="Oval 13"/>
          <p:cNvSpPr/>
          <p:nvPr/>
        </p:nvSpPr>
        <p:spPr>
          <a:xfrm>
            <a:off x="8503920" y="3346704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3364992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会社のボタンを押す（例: アクシスＩＴパートナーズ）</a:t>
            </a:r>
          </a:p>
        </p:txBody>
      </p:sp>
      <p:sp>
        <p:nvSpPr>
          <p:cNvPr id="16" name="Oval 15"/>
          <p:cNvSpPr/>
          <p:nvPr/>
        </p:nvSpPr>
        <p:spPr>
          <a:xfrm>
            <a:off x="8503920" y="4105656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4123944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結果を確認する（作成／要確認／作れず）</a:t>
            </a:r>
          </a:p>
        </p:txBody>
      </p:sp>
      <p:sp>
        <p:nvSpPr>
          <p:cNvPr id="18" name="Oval 17"/>
          <p:cNvSpPr/>
          <p:nvPr/>
        </p:nvSpPr>
        <p:spPr>
          <a:xfrm>
            <a:off x="8503920" y="4864608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488289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要確認が出たら中身を見て判断する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5715000"/>
            <a:ext cx="3200400" cy="1828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5852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5FA3"/>
                </a:solidFill>
              </a:rPr>
              <a:t>ボタンにカーソルを合わせると対象者が出ます。すでに同じ名前のPDFがある月は作りません。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STEP 2｜「要確認」が出たときの見かた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217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D8EFFB"/>
                </a:solidFill>
              </a:rPr>
              <a:t>請求日・入金期日が対象月とかみ合わないとき、作らずに止めます。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2011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オペレーションハブ 請求書 操作マニュアル（2026-08-20版）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583680" cy="3749039"/>
          </a:xfrm>
          <a:prstGeom prst="rect">
            <a:avLst/>
          </a:prstGeom>
          <a:solidFill>
            <a:srgbClr val="D0E8F5"/>
          </a:solidFill>
          <a:ln w="19050">
            <a:solidFill>
              <a:srgbClr val="008B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6217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5FA3"/>
                </a:solidFill>
              </a:rPr>
              <a:t>[  要確認の一覧と「このまま作成する」ボタン 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716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5FA3"/>
                </a:solidFill>
              </a:rPr>
              <a:t>なぜ止まるのか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783080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前月シートをコピーして作る運用なので、金額だけ直して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請求日・請求書番号・入金期日が前月のまま残ることがあります。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綴じて提出したあとでは気づけないので、ここで止めます。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2026年7月分では実際に1名分が前月のまま残っていました。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7033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5FA3"/>
                </a:solidFill>
              </a:rPr>
              <a:t>どうするか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4114800"/>
            <a:ext cx="4297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Excelを直してからボタンをもう一度押す、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または中身を見て問題なければ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「中身を確認しました。このまま作成する」を押します。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492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DC3545"/>
                </a:solidFill>
              </a:rPr>
              <a:t>「作れませんでした」は確認ボタンでも作りません。勤怠PDFの候補が複数あるときに違う人の分を綴じたり、提出済みのPDFを消したりしないためです。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STEP 3｜② 請求書PDFを検索して確認する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217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D8EFFB"/>
                </a:solidFill>
              </a:rPr>
              <a:t>提出済みの請求書PDFを28フォルダから探して読み取り、画面で直してからCSVにします。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2011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オペレーションハブ 請求書 操作マニュアル（2026-08-20版）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7772400" cy="4846320"/>
          </a:xfrm>
          <a:prstGeom prst="rect">
            <a:avLst/>
          </a:prstGeom>
          <a:solidFill>
            <a:srgbClr val="D0E8F5"/>
          </a:solidFill>
          <a:ln w="19050">
            <a:solidFill>
              <a:srgbClr val="008B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474720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5FA3"/>
                </a:solidFill>
              </a:rPr>
              <a:t>[  ②ブロックのプレビュー表（赤い行と修正欄） 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5FA3"/>
                </a:solidFill>
              </a:rPr>
              <a:t>手順</a:t>
            </a:r>
          </a:p>
        </p:txBody>
      </p:sp>
      <p:sp>
        <p:nvSpPr>
          <p:cNvPr id="10" name="Oval 9"/>
          <p:cNvSpPr/>
          <p:nvPr/>
        </p:nvSpPr>
        <p:spPr>
          <a:xfrm>
            <a:off x="8503920" y="1828800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847088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対象月を入れる（例: 2026-07）</a:t>
            </a:r>
          </a:p>
        </p:txBody>
      </p:sp>
      <p:sp>
        <p:nvSpPr>
          <p:cNvPr id="12" name="Oval 11"/>
          <p:cNvSpPr/>
          <p:nvPr/>
        </p:nvSpPr>
        <p:spPr>
          <a:xfrm>
            <a:off x="8503920" y="2587752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260604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「PDFを検索して確認」を押す</a:t>
            </a:r>
          </a:p>
        </p:txBody>
      </p:sp>
      <p:sp>
        <p:nvSpPr>
          <p:cNvPr id="14" name="Oval 13"/>
          <p:cNvSpPr/>
          <p:nvPr/>
        </p:nvSpPr>
        <p:spPr>
          <a:xfrm>
            <a:off x="8503920" y="3346704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3364992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赤い行の欄を埋める</a:t>
            </a:r>
          </a:p>
        </p:txBody>
      </p:sp>
      <p:sp>
        <p:nvSpPr>
          <p:cNvPr id="16" name="Oval 15"/>
          <p:cNvSpPr/>
          <p:nvPr/>
        </p:nvSpPr>
        <p:spPr>
          <a:xfrm>
            <a:off x="8503920" y="4105656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4123944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1枚に複数人ぶんある請求書は「複製」で分ける</a:t>
            </a:r>
          </a:p>
        </p:txBody>
      </p:sp>
      <p:sp>
        <p:nvSpPr>
          <p:cNvPr id="18" name="Oval 17"/>
          <p:cNvSpPr/>
          <p:nvPr/>
        </p:nvSpPr>
        <p:spPr>
          <a:xfrm>
            <a:off x="8503920" y="4864608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488289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PDFに無い請求は「行を追加」で足す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5715000"/>
            <a:ext cx="3200400" cy="1828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5852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5FA3"/>
                </a:solidFill>
              </a:rPr>
              <a:t>区分・従業員・管理番号の3列は横スクロールしても左に残ります。横スクロールバーは表の下端に出ます。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STEP 4｜freee取込CSVを作成する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217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D8EFFB"/>
                </a:solidFill>
              </a:rPr>
              <a:t>赤い行がなくなったらCSVを作ります。freeeへの取込は人が行います。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2011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オペレーションハブ 請求書 操作マニュアル（2026-08-20版）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7772400" cy="4846320"/>
          </a:xfrm>
          <a:prstGeom prst="rect">
            <a:avLst/>
          </a:prstGeom>
          <a:solidFill>
            <a:srgbClr val="D0E8F5"/>
          </a:solidFill>
          <a:ln w="19050">
            <a:solidFill>
              <a:srgbClr val="008B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474720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5FA3"/>
                </a:solidFill>
              </a:rPr>
              <a:t>[  ②ブロックの下部（freee CSVを作成・ダウンロード） 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5FA3"/>
                </a:solidFill>
              </a:rPr>
              <a:t>手順</a:t>
            </a:r>
          </a:p>
        </p:txBody>
      </p:sp>
      <p:sp>
        <p:nvSpPr>
          <p:cNvPr id="10" name="Oval 9"/>
          <p:cNvSpPr/>
          <p:nvPr/>
        </p:nvSpPr>
        <p:spPr>
          <a:xfrm>
            <a:off x="8503920" y="1828800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847088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赤い行が残っていないか確かめる</a:t>
            </a:r>
          </a:p>
        </p:txBody>
      </p:sp>
      <p:sp>
        <p:nvSpPr>
          <p:cNvPr id="12" name="Oval 11"/>
          <p:cNvSpPr/>
          <p:nvPr/>
        </p:nvSpPr>
        <p:spPr>
          <a:xfrm>
            <a:off x="8503920" y="2587752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260604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「freee CSVを作成」を押す</a:t>
            </a:r>
          </a:p>
        </p:txBody>
      </p:sp>
      <p:sp>
        <p:nvSpPr>
          <p:cNvPr id="14" name="Oval 13"/>
          <p:cNvSpPr/>
          <p:nvPr/>
        </p:nvSpPr>
        <p:spPr>
          <a:xfrm>
            <a:off x="8503920" y="3346704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3364992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CSVをダウンロードする</a:t>
            </a:r>
          </a:p>
        </p:txBody>
      </p:sp>
      <p:sp>
        <p:nvSpPr>
          <p:cNvPr id="16" name="Oval 15"/>
          <p:cNvSpPr/>
          <p:nvPr/>
        </p:nvSpPr>
        <p:spPr>
          <a:xfrm>
            <a:off x="8503920" y="4105656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4123944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freeeの取引インポートで取り込む</a:t>
            </a:r>
          </a:p>
        </p:txBody>
      </p:sp>
      <p:sp>
        <p:nvSpPr>
          <p:cNvPr id="18" name="Oval 17"/>
          <p:cNvSpPr/>
          <p:nvPr/>
        </p:nvSpPr>
        <p:spPr>
          <a:xfrm>
            <a:off x="8503920" y="4864608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488289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実行ログで何を読んだか確認できる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5715000"/>
            <a:ext cx="3200400" cy="1828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5852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5FA3"/>
                </a:solidFill>
              </a:rPr>
              <a:t>売上高は外税（金額＝税抜・税額は別欄）、交通費のみ内税で出ます。部門はjinjerのカスタム項目から入ります。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注意事項・よくあるつまずき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217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D8EFFB"/>
                </a:solidFill>
              </a:rPr>
              <a:t>多くは「シートの直し忘れ」と「対象者の取り違え」で起きます。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2011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オペレーションハブ 請求書 操作マニュアル（2026-08-20版）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5440680" cy="2103120"/>
          </a:xfrm>
          <a:prstGeom prst="rect">
            <a:avLst/>
          </a:prstGeom>
          <a:solidFill>
            <a:srgbClr val="F7FBFE"/>
          </a:solidFill>
          <a:ln w="15240">
            <a:solidFill>
              <a:srgbClr val="DC3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DC3545"/>
                </a:solidFill>
              </a:rPr>
              <a:t>前月シートの直し忘れ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4983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</a:rPr>
              <a:t>請求日・請求書番号・入金期日が前月のまま残っていると①で止まります。金額だけでなく日付も直してください。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63040"/>
            <a:ext cx="5440680" cy="2103120"/>
          </a:xfrm>
          <a:prstGeom prst="rect">
            <a:avLst/>
          </a:prstGeom>
          <a:solidFill>
            <a:srgbClr val="F7FBFE"/>
          </a:solidFill>
          <a:ln w="15240">
            <a:solidFill>
              <a:srgbClr val="B0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B06A00"/>
                </a:solidFill>
              </a:rPr>
              <a:t>e-staffing・SAP Fieldglassの方は対象外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103120"/>
            <a:ext cx="4983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</a:rPr>
              <a:t>別ルートでfreeeに入るため、②のCSVには出ません（二重計上になるため）。対象者は共有フォルダの対象外リストで管理しています。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794760"/>
            <a:ext cx="5440680" cy="2103120"/>
          </a:xfrm>
          <a:prstGeom prst="rect">
            <a:avLst/>
          </a:prstGeom>
          <a:solidFill>
            <a:srgbClr val="F7FBFE"/>
          </a:solidFill>
          <a:ln w="15240">
            <a:solidFill>
              <a:srgbClr val="28A7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97764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28A745"/>
                </a:solidFill>
              </a:rPr>
              <a:t>1枚に複数人ぶんある請求書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434840"/>
            <a:ext cx="4983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</a:rPr>
              <a:t>IXナレッジ様のように内訳が印字されていない請求書は、人数分の行を用意して金額は空で出します。画面で振り分けてください。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3794760"/>
            <a:ext cx="5440680" cy="2103120"/>
          </a:xfrm>
          <a:prstGeom prst="rect">
            <a:avLst/>
          </a:prstGeom>
          <a:solidFill>
            <a:srgbClr val="F7FBFE"/>
          </a:solidFill>
          <a:ln w="15240">
            <a:solidFill>
              <a:srgbClr val="005F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4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005FA3"/>
                </a:solidFill>
              </a:rPr>
              <a:t>マスタは共有フォルダにあります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983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</a:rPr>
              <a:t>対象フォルダ・取引先・対象外・内訳・PDF作成設定の5本はすべて Z:\API連携\docs\ にあります。直せばアプリを作り直さずに効きます。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
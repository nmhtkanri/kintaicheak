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D1F0"/>
                </a:solidFill>
              </a:rPr>
              <a:t>オペレーションハブ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請求書 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E6F7"/>
                </a:solidFill>
              </a:rPr>
              <a:t>提出用PDFの作成から、freee売上取引CSVの作成までの月次の流れ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D1F0"/>
                </a:solidFill>
              </a:rPr>
              <a:t>株式会社エヌエム・ヒューマテック 管理部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このタブでやること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常駐先への請求書提出と、freeeへの売上計上を1つのタブでまとめて行います。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394960" cy="233172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目的と対象者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・対象者: 管理部（請求担当）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・月1回、常駐先28フォルダぶんの請求をまとめて処理します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・freeeへの取込と、請求書の提出そのものは人が行います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・画面が変えるのは共有フォルダとCSVだけで、freeeには書きません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486400" cy="23317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6A00"/>
                </a:solidFill>
              </a:rPr>
              <a:t>はじめる前に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・請求書Excelの当月シートに金額を入れておく（人の作業）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・前月シートをコピーしたら、請求日・請求書番号・入金期日も直す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・勤怠PDF（業務実績表・タイムシート等）が所定の場所にあること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1155680" cy="214884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2つのブロック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① 請求書と勤怠を綴じて提出用PDFを作る … 会社ごとのボタンを押すと、その会社の全員ぶんを作ります。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　　いまはアクシスＩＴパートナーズ様・エヌアイシー・ソフト様の2社4名が対象です。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② 提出済みの請求書PDFからfreee取込CSVを作る … 28フォルダを探して読み取り、画面で直してからCSVにします。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月次の全体フロー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上から順に進めます。①と②は別の作業なので、片方だけでも使えます。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057400" cy="2148840"/>
          </a:xfrm>
          <a:prstGeom prst="rect">
            <a:avLst/>
          </a:prstGeom>
          <a:solidFill>
            <a:srgbClr val="E8F4FD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286000"/>
            <a:ext cx="411480" cy="411480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FA3"/>
                </a:solidFill>
              </a:rPr>
              <a:t>請求書Excelに</a:t>
            </a:r>
          </a:p>
          <a:p>
            <a:pPr algn="ctr"/>
            <a:r>
              <a:rPr sz="1300" b="1">
                <a:solidFill>
                  <a:srgbClr val="005FA3"/>
                </a:solidFill>
              </a:rPr>
              <a:t>金額を入れる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</a:rPr>
              <a:t>人の作業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8B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103120"/>
            <a:ext cx="2057400" cy="214884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286000"/>
            <a:ext cx="411480" cy="411480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346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FA3"/>
                </a:solidFill>
              </a:rPr>
              <a:t>① 提出用PDFを</a:t>
            </a:r>
          </a:p>
          <a:p>
            <a:pPr algn="ctr"/>
            <a:r>
              <a:rPr sz="1300" b="1">
                <a:solidFill>
                  <a:srgbClr val="005FA3"/>
                </a:solidFill>
              </a:rPr>
              <a:t>作る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576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</a:rPr>
              <a:t>会社ごとのボタン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8B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9" y="2103120"/>
            <a:ext cx="2057400" cy="2148840"/>
          </a:xfrm>
          <a:prstGeom prst="rect">
            <a:avLst/>
          </a:prstGeom>
          <a:solidFill>
            <a:srgbClr val="E8F4FD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35040" y="2286000"/>
            <a:ext cx="411480" cy="411480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19" y="28346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FA3"/>
                </a:solidFill>
              </a:rPr>
              <a:t>請求書を</a:t>
            </a:r>
          </a:p>
          <a:p>
            <a:pPr algn="ctr"/>
            <a:r>
              <a:rPr sz="1300" b="1">
                <a:solidFill>
                  <a:srgbClr val="005FA3"/>
                </a:solidFill>
              </a:rPr>
              <a:t>常駐先へ提出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19" y="36576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</a:rPr>
              <a:t>人の作業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1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8B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103120"/>
            <a:ext cx="2057400" cy="214884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2286000"/>
            <a:ext cx="411480" cy="411480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346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FA3"/>
                </a:solidFill>
              </a:rPr>
              <a:t>② PDFを検索</a:t>
            </a:r>
          </a:p>
          <a:p>
            <a:pPr algn="ctr"/>
            <a:r>
              <a:rPr sz="1300" b="1">
                <a:solidFill>
                  <a:srgbClr val="005FA3"/>
                </a:solidFill>
              </a:rPr>
              <a:t>して確認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6576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</a:rPr>
              <a:t>赤い行を直す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8BD8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2103120"/>
            <a:ext cx="2057400" cy="214884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98480" y="2286000"/>
            <a:ext cx="411480" cy="411480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83464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FA3"/>
                </a:solidFill>
              </a:rPr>
              <a:t>freee CSVを</a:t>
            </a:r>
          </a:p>
          <a:p>
            <a:pPr algn="ctr"/>
            <a:r>
              <a:rPr sz="1300" b="1">
                <a:solidFill>
                  <a:srgbClr val="005FA3"/>
                </a:solidFill>
              </a:rPr>
              <a:t>作成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36576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</a:rPr>
              <a:t>取込は人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①で作ったPDFを提出したあと、②でそのPDFを読み取ってfreee用のCSVにします。②は提出済みのPDFを見るので、①より後に行ってください。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1｜① 請求書と勤怠を綴じて提出用PDFを作る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月に1回。請求書Excelの当月シートと勤怠PDFを1つのPDFにして、提出データフォルダへ置きます。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772400" cy="4846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5FA3"/>
                </a:solidFill>
              </a:rPr>
              <a:t>[  ①ブロックの画面（対象月と会社ごとのボタン）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手順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8288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470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「請求書」タブを開く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587752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対象月を入れる（例: 2026-07）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46704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364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会社のボタンを押す（例: アクシスＩＴパートナーズ）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105656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2394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結果を確認する（作成／要確認／作れず）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64608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828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要確認が出たら中身を見て判断する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852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FA3"/>
                </a:solidFill>
              </a:rPr>
              <a:t>ボタンにカーソルを合わせると対象者が出ます。すでに同じ名前のPDFがある月は作りません。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2｜「要確認」が出たときの見かた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請求日・入金期日が対象月とかみ合わないとき、作らずに止めます。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583680" cy="3749039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5FA3"/>
                </a:solidFill>
              </a:rPr>
              <a:t>[  要確認の一覧と「このまま作成する」ボタン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なぜ止まるのか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前月シートをコピーして作る運用なので、金額だけ直して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請求日・請求書番号・入金期日が前月のまま残ることがあります。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綴じて提出したあとでは気づけないので、ここで止めます。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2026年7月分では実際に1名分が前月のまま残っていました。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どうするか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1480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Excelを直してからボタンをもう一度押す、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または中身を見て問題なければ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「中身を確認しました。このまま作成する」を押します。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C3545"/>
                </a:solidFill>
              </a:rPr>
              <a:t>「作れませんでした」は確認ボタンでも作りません。勤怠PDFの候補が複数あるときに違う人の分を綴じたり、提出済みのPDFを消したりしないためです。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3｜② 請求書PDFを検索して確認する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提出済みの請求書PDFを28フォルダから探して読み取り、画面で直してからCSVにします。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772400" cy="4846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5FA3"/>
                </a:solidFill>
              </a:rPr>
              <a:t>[  ②ブロックのプレビュー表（赤い行と修正欄）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手順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8288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470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対象月を入れる（例: 2026-07）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587752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「PDFを検索して確認」を押す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46704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364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赤い行の欄を埋める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105656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2394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1枚に複数人ぶんある請求書は「複製」で分ける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64608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828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PDFに無い請求は「行を追加」で足す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852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FA3"/>
                </a:solidFill>
              </a:rPr>
              <a:t>区分・従業員・管理番号の3列は横スクロールしても左に残ります。横スクロールバーは表の下端に出ます。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4｜freee取込CSVを作成する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赤い行がなくなったらCSVを作ります。freeeへの取込は人が行います。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772400" cy="4846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5FA3"/>
                </a:solidFill>
              </a:rPr>
              <a:t>[  ②ブロックの下部（freee CSVを作成・ダウンロード）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手順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8288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470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赤い行が残っていないか確かめる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587752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「freee CSVを作成」を押す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46704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364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CSVをダウンロードする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105656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2394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freeeの取引インポートで取り込む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64608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828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実行ログで何を読んだか確認できる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852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FA3"/>
                </a:solidFill>
              </a:rPr>
              <a:t>売上高・交通費とも内税（金額＝税込・税額は別欄）で出ます。部門・氏名はjinjerから入ります（氏名はfreeeと同じ「姓 名」）。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常駐先が増減したとき｜見るフォルダを直す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勤怠PDF・請求書Excel・提出先の場所を、画面の一覧から直せます。共有フォルダのCSVを開く必要はありません。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772400" cy="4846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5FA3"/>
                </a:solidFill>
              </a:rPr>
              <a:t>[  見るフォルダの一覧（3つのタブ）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FA3"/>
                </a:solidFill>
              </a:rPr>
              <a:t>手順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8288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470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「請求書」タブを開く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587752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「見るフォルダの一覧」を押す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46704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364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直したいタブを選ぶ（3つ）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105656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2394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パスとファイル名を直す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64608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828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</a:rPr>
              <a:t>状態を確認してから保存する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852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FA3"/>
                </a:solidFill>
              </a:rPr>
              <a:t>「＋ 人を追加」で人を増やせます。直せるのは谷津さん・平良さん・一戸さんの3名で、保存前のCSVは _backup に残ります。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注意事項・よくあるつまずき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8EFFB"/>
                </a:solidFill>
              </a:rPr>
              <a:t>多くは「シートの直し忘れ」と「対象者の取り違え」で起きます。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オペレーションハブ 請求書 操作マニュアル（2026-09-02版）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40680" cy="2103120"/>
          </a:xfrm>
          <a:prstGeom prst="rect">
            <a:avLst/>
          </a:prstGeom>
          <a:solidFill>
            <a:srgbClr val="F7FBFE"/>
          </a:solidFill>
          <a:ln w="1524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C3545"/>
                </a:solidFill>
              </a:rPr>
              <a:t>前月シートの直し忘れ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請求日・請求書番号・入金期日が前月のまま残っていると①で止まります。金額だけでなく日付も直してください。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440680" cy="2103120"/>
          </a:xfrm>
          <a:prstGeom prst="rect">
            <a:avLst/>
          </a:prstGeom>
          <a:solidFill>
            <a:srgbClr val="F7FBFE"/>
          </a:solidFill>
          <a:ln w="1524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06A00"/>
                </a:solidFill>
              </a:rPr>
              <a:t>e-staffing・SAP Fieldglassの方は対象外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別ルートでfreeeに入るため、②のCSVには出ません（二重計上になるため）。対象者は共有フォルダの対象外リストで管理しています。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40680" cy="2103120"/>
          </a:xfrm>
          <a:prstGeom prst="rect">
            <a:avLst/>
          </a:prstGeom>
          <a:solidFill>
            <a:srgbClr val="F7FBFE"/>
          </a:solidFill>
          <a:ln w="1524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8A745"/>
                </a:solidFill>
              </a:rPr>
              <a:t>1枚に複数人ぶんある請求書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IXナレッジ様のように内訳が印字されていない請求書は、人数分の行を用意して金額は空で出します。画面で振り分けてください。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5440680" cy="2103120"/>
          </a:xfrm>
          <a:prstGeom prst="rect">
            <a:avLst/>
          </a:prstGeom>
          <a:solidFill>
            <a:srgbClr val="F7FBFE"/>
          </a:solidFill>
          <a:ln w="15240">
            <a:solidFill>
              <a:srgbClr val="00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5FA3"/>
                </a:solidFill>
              </a:rPr>
              <a:t>マスタは共有フォルダにあります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対象フォルダ・取引先・対象外・内訳・PDF作成設定の5本はすべて Z:\API連携\docs\ にあります。このうち PDF作成設定と対象フォルダは、①ブロックの「見るフォルダの一覧を表示」から画面で直せます。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